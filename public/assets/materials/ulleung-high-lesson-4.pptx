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c968a076824350" /><Relationship Type="http://schemas.openxmlformats.org/officeDocument/2006/relationships/extended-properties" Target="/docProps/app.xml" Id="R105f36afea6540fe" /><Relationship Type="http://schemas.openxmlformats.org/officeDocument/2006/relationships/officeDocument" Target="/ppt/presentation.xml" Id="R8c398f07dcfd45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66a82682c64b85"/>
  </p:sldMasterIdLst>
  <p:notesMasterIdLst>
    <p:notesMasterId xmlns:r="http://schemas.openxmlformats.org/officeDocument/2006/relationships" r:id="Rc7b1f607b1eb4471"/>
  </p:notesMasterIdLst>
  <p:sldIdLst>
    <p:sldId xmlns:r="http://schemas.openxmlformats.org/officeDocument/2006/relationships" id="256" r:id="R9a6dc9245d8a46de"/>
    <p:sldId xmlns:r="http://schemas.openxmlformats.org/officeDocument/2006/relationships" id="257" r:id="R0dd2b0556b1d421f"/>
    <p:sldId xmlns:r="http://schemas.openxmlformats.org/officeDocument/2006/relationships" id="258" r:id="R374f7d4df00f4200"/>
    <p:sldId xmlns:r="http://schemas.openxmlformats.org/officeDocument/2006/relationships" id="259" r:id="Rbddf06d86ee44f62"/>
    <p:sldId xmlns:r="http://schemas.openxmlformats.org/officeDocument/2006/relationships" id="260" r:id="R9d577b841c594d55"/>
    <p:sldId xmlns:r="http://schemas.openxmlformats.org/officeDocument/2006/relationships" id="261" r:id="R47d86776bada4822"/>
    <p:sldId xmlns:r="http://schemas.openxmlformats.org/officeDocument/2006/relationships" id="262" r:id="R2757256b46e24f74"/>
    <p:sldId xmlns:r="http://schemas.openxmlformats.org/officeDocument/2006/relationships" id="263" r:id="Rd0b9c4b294974119"/>
    <p:sldId xmlns:r="http://schemas.openxmlformats.org/officeDocument/2006/relationships" id="264" r:id="R25d8f22472dc44aa"/>
    <p:sldId xmlns:r="http://schemas.openxmlformats.org/officeDocument/2006/relationships" id="265" r:id="R0b495f08517345db"/>
    <p:sldId xmlns:r="http://schemas.openxmlformats.org/officeDocument/2006/relationships" id="266" r:id="R32e42a7e9f8e4d54"/>
    <p:sldId xmlns:r="http://schemas.openxmlformats.org/officeDocument/2006/relationships" id="267" r:id="R26cbf7973d6d4dd8"/>
    <p:sldId xmlns:r="http://schemas.openxmlformats.org/officeDocument/2006/relationships" id="268" r:id="R6c4ade3df606431d"/>
    <p:sldId xmlns:r="http://schemas.openxmlformats.org/officeDocument/2006/relationships" id="269" r:id="Rfc9377ccea954901"/>
    <p:sldId xmlns:r="http://schemas.openxmlformats.org/officeDocument/2006/relationships" id="270" r:id="R3b0e0fff3cd24e95"/>
    <p:sldId xmlns:r="http://schemas.openxmlformats.org/officeDocument/2006/relationships" id="271" r:id="R9ee8b6d6ba8e4a67"/>
    <p:sldId xmlns:r="http://schemas.openxmlformats.org/officeDocument/2006/relationships" id="272" r:id="R0f0faad43ba049df"/>
    <p:sldId xmlns:r="http://schemas.openxmlformats.org/officeDocument/2006/relationships" id="273" r:id="R1cf6db6f2d0645f5"/>
    <p:sldId xmlns:r="http://schemas.openxmlformats.org/officeDocument/2006/relationships" id="274" r:id="Rfce7ec8f90e84e7d"/>
    <p:sldId xmlns:r="http://schemas.openxmlformats.org/officeDocument/2006/relationships" id="275" r:id="R524427629bcc4f79"/>
    <p:sldId xmlns:r="http://schemas.openxmlformats.org/officeDocument/2006/relationships" id="276" r:id="Raec5e0fcd8d94f72"/>
    <p:sldId xmlns:r="http://schemas.openxmlformats.org/officeDocument/2006/relationships" id="277" r:id="Rddac8204698f4e05"/>
    <p:sldId xmlns:r="http://schemas.openxmlformats.org/officeDocument/2006/relationships" id="278" r:id="Rfdcc8c9913774348"/>
    <p:sldId xmlns:r="http://schemas.openxmlformats.org/officeDocument/2006/relationships" id="279" r:id="Ra3a0437efc6943d0"/>
    <p:sldId xmlns:r="http://schemas.openxmlformats.org/officeDocument/2006/relationships" id="280" r:id="R1e13c876118742f5"/>
    <p:sldId xmlns:r="http://schemas.openxmlformats.org/officeDocument/2006/relationships" id="281" r:id="Rb3bdcdaa78034dcb"/>
    <p:sldId xmlns:r="http://schemas.openxmlformats.org/officeDocument/2006/relationships" id="282" r:id="R5524649540ce463a"/>
    <p:sldId xmlns:r="http://schemas.openxmlformats.org/officeDocument/2006/relationships" id="283" r:id="R1448e2face454f4c"/>
    <p:sldId xmlns:r="http://schemas.openxmlformats.org/officeDocument/2006/relationships" id="284" r:id="R10c5803004bd4620"/>
    <p:sldId xmlns:r="http://schemas.openxmlformats.org/officeDocument/2006/relationships" id="285" r:id="R3ee24efa9dff4c5c"/>
    <p:sldId xmlns:r="http://schemas.openxmlformats.org/officeDocument/2006/relationships" id="286" r:id="Re4ea9854be7d488c"/>
    <p:sldId xmlns:r="http://schemas.openxmlformats.org/officeDocument/2006/relationships" id="287" r:id="R029151940add40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b5075b07f843f3" /><Relationship Type="http://schemas.openxmlformats.org/officeDocument/2006/relationships/slideMaster" Target="/ppt/slideMasters/slideMaster1.xml" Id="R8266a82682c64b85" /><Relationship Type="http://schemas.openxmlformats.org/officeDocument/2006/relationships/notesMaster" Target="/ppt/notesMasters/notesMaster1.xml" Id="Rc7b1f607b1eb4471" /><Relationship Type="http://schemas.openxmlformats.org/officeDocument/2006/relationships/presProps" Target="/ppt/presProps.xml" Id="R08449f82165a42a7" /><Relationship Type="http://schemas.openxmlformats.org/officeDocument/2006/relationships/tableStyles" Target="/ppt/tableStyles.xml" Id="Rc6bf9ae7fe6c4f71" /><Relationship Type="http://schemas.openxmlformats.org/officeDocument/2006/relationships/slide" Target="/ppt/slides/slide1.xml" Id="R9a6dc9245d8a46de" /><Relationship Type="http://schemas.openxmlformats.org/officeDocument/2006/relationships/slide" Target="/ppt/slides/slide2.xml" Id="R0dd2b0556b1d421f" /><Relationship Type="http://schemas.openxmlformats.org/officeDocument/2006/relationships/slide" Target="/ppt/slides/slide3.xml" Id="R374f7d4df00f4200" /><Relationship Type="http://schemas.openxmlformats.org/officeDocument/2006/relationships/slide" Target="/ppt/slides/slide4.xml" Id="Rbddf06d86ee44f62" /><Relationship Type="http://schemas.openxmlformats.org/officeDocument/2006/relationships/slide" Target="/ppt/slides/slide5.xml" Id="R9d577b841c594d55" /><Relationship Type="http://schemas.openxmlformats.org/officeDocument/2006/relationships/slide" Target="/ppt/slides/slide6.xml" Id="R47d86776bada4822" /><Relationship Type="http://schemas.openxmlformats.org/officeDocument/2006/relationships/slide" Target="/ppt/slides/slide7.xml" Id="R2757256b46e24f74" /><Relationship Type="http://schemas.openxmlformats.org/officeDocument/2006/relationships/slide" Target="/ppt/slides/slide8.xml" Id="Rd0b9c4b294974119" /><Relationship Type="http://schemas.openxmlformats.org/officeDocument/2006/relationships/slide" Target="/ppt/slides/slide9.xml" Id="R25d8f22472dc44aa" /><Relationship Type="http://schemas.openxmlformats.org/officeDocument/2006/relationships/slide" Target="/ppt/slides/slide10.xml" Id="R0b495f08517345db" /><Relationship Type="http://schemas.openxmlformats.org/officeDocument/2006/relationships/slide" Target="/ppt/slides/slide11.xml" Id="R32e42a7e9f8e4d54" /><Relationship Type="http://schemas.openxmlformats.org/officeDocument/2006/relationships/slide" Target="/ppt/slides/slide12.xml" Id="R26cbf7973d6d4dd8" /><Relationship Type="http://schemas.openxmlformats.org/officeDocument/2006/relationships/slide" Target="/ppt/slides/slide13.xml" Id="R6c4ade3df606431d" /><Relationship Type="http://schemas.openxmlformats.org/officeDocument/2006/relationships/slide" Target="/ppt/slides/slide14.xml" Id="Rfc9377ccea954901" /><Relationship Type="http://schemas.openxmlformats.org/officeDocument/2006/relationships/slide" Target="/ppt/slides/slide15.xml" Id="R3b0e0fff3cd24e95" /><Relationship Type="http://schemas.openxmlformats.org/officeDocument/2006/relationships/slide" Target="/ppt/slides/slide16.xml" Id="R9ee8b6d6ba8e4a67" /><Relationship Type="http://schemas.openxmlformats.org/officeDocument/2006/relationships/slide" Target="/ppt/slides/slide17.xml" Id="R0f0faad43ba049df" /><Relationship Type="http://schemas.openxmlformats.org/officeDocument/2006/relationships/slide" Target="/ppt/slides/slide18.xml" Id="R1cf6db6f2d0645f5" /><Relationship Type="http://schemas.openxmlformats.org/officeDocument/2006/relationships/slide" Target="/ppt/slides/slide19.xml" Id="Rfce7ec8f90e84e7d" /><Relationship Type="http://schemas.openxmlformats.org/officeDocument/2006/relationships/slide" Target="/ppt/slides/slide20.xml" Id="R524427629bcc4f79" /><Relationship Type="http://schemas.openxmlformats.org/officeDocument/2006/relationships/slide" Target="/ppt/slides/slide21.xml" Id="Raec5e0fcd8d94f72" /><Relationship Type="http://schemas.openxmlformats.org/officeDocument/2006/relationships/slide" Target="/ppt/slides/slide22.xml" Id="Rddac8204698f4e05" /><Relationship Type="http://schemas.openxmlformats.org/officeDocument/2006/relationships/slide" Target="/ppt/slides/slide23.xml" Id="Rfdcc8c9913774348" /><Relationship Type="http://schemas.openxmlformats.org/officeDocument/2006/relationships/slide" Target="/ppt/slides/slide24.xml" Id="Ra3a0437efc6943d0" /><Relationship Type="http://schemas.openxmlformats.org/officeDocument/2006/relationships/slide" Target="/ppt/slides/slide25.xml" Id="R1e13c876118742f5" /><Relationship Type="http://schemas.openxmlformats.org/officeDocument/2006/relationships/slide" Target="/ppt/slides/slide26.xml" Id="Rb3bdcdaa78034dcb" /><Relationship Type="http://schemas.openxmlformats.org/officeDocument/2006/relationships/slide" Target="/ppt/slides/slide27.xml" Id="R5524649540ce463a" /><Relationship Type="http://schemas.openxmlformats.org/officeDocument/2006/relationships/slide" Target="/ppt/slides/slide28.xml" Id="R1448e2face454f4c" /><Relationship Type="http://schemas.openxmlformats.org/officeDocument/2006/relationships/slide" Target="/ppt/slides/slide29.xml" Id="R10c5803004bd4620" /><Relationship Type="http://schemas.openxmlformats.org/officeDocument/2006/relationships/slide" Target="/ppt/slides/slide30.xml" Id="R3ee24efa9dff4c5c" /><Relationship Type="http://schemas.openxmlformats.org/officeDocument/2006/relationships/slide" Target="/ppt/slides/slide31.xml" Id="Re4ea9854be7d488c" /><Relationship Type="http://schemas.openxmlformats.org/officeDocument/2006/relationships/slide" Target="/ppt/slides/slide32.xml" Id="R029151940add40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b382acc3654e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9bfd41678341f2" /><Relationship Type="http://schemas.openxmlformats.org/officeDocument/2006/relationships/notesMaster" Target="/ppt/notesMasters/notesMaster1.xml" Id="Rf3f08372648148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f3fc48267042ca" /><Relationship Type="http://schemas.openxmlformats.org/officeDocument/2006/relationships/notesMaster" Target="/ppt/notesMasters/notesMaster1.xml" Id="R5a5e7ab16e6b44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bbe74b08ff4a4a" /><Relationship Type="http://schemas.openxmlformats.org/officeDocument/2006/relationships/notesMaster" Target="/ppt/notesMasters/notesMaster1.xml" Id="R243887d5ea5340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82d8a1e0954ec6" /><Relationship Type="http://schemas.openxmlformats.org/officeDocument/2006/relationships/notesMaster" Target="/ppt/notesMasters/notesMaster1.xml" Id="R72fff7d74c104d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963d6b20f84e59" /><Relationship Type="http://schemas.openxmlformats.org/officeDocument/2006/relationships/notesMaster" Target="/ppt/notesMasters/notesMaster1.xml" Id="R9d096e282e0f48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38291a5175441d" /><Relationship Type="http://schemas.openxmlformats.org/officeDocument/2006/relationships/notesMaster" Target="/ppt/notesMasters/notesMaster1.xml" Id="Rffc33aac6d3f48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a4632f700f4b73" /><Relationship Type="http://schemas.openxmlformats.org/officeDocument/2006/relationships/notesMaster" Target="/ppt/notesMasters/notesMaster1.xml" Id="Redfc99cb5eb041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7a2d29a95a417c" /><Relationship Type="http://schemas.openxmlformats.org/officeDocument/2006/relationships/notesMaster" Target="/ppt/notesMasters/notesMaster1.xml" Id="Rc0606098136746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d78701299f438a" /><Relationship Type="http://schemas.openxmlformats.org/officeDocument/2006/relationships/notesMaster" Target="/ppt/notesMasters/notesMaster1.xml" Id="R1b3e0628984c4a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701f5df7c704913" /><Relationship Type="http://schemas.openxmlformats.org/officeDocument/2006/relationships/notesMaster" Target="/ppt/notesMasters/notesMaster1.xml" Id="R88a3b96de48044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34751ecc893432d" /><Relationship Type="http://schemas.openxmlformats.org/officeDocument/2006/relationships/notesMaster" Target="/ppt/notesMasters/notesMaster1.xml" Id="Rc83e625f2d5c430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10c8bf98ad34b57" /><Relationship Type="http://schemas.openxmlformats.org/officeDocument/2006/relationships/notesMaster" Target="/ppt/notesMasters/notesMaster1.xml" Id="Rc150e44304a44a4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8205a92244a4f29" /><Relationship Type="http://schemas.openxmlformats.org/officeDocument/2006/relationships/notesMaster" Target="/ppt/notesMasters/notesMaster1.xml" Id="R2dc83e5f4669494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6b388511c644d4d" /><Relationship Type="http://schemas.openxmlformats.org/officeDocument/2006/relationships/notesMaster" Target="/ppt/notesMasters/notesMaster1.xml" Id="Rf5e8d745111f40d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5e7ce9975e84551" /><Relationship Type="http://schemas.openxmlformats.org/officeDocument/2006/relationships/notesMaster" Target="/ppt/notesMasters/notesMaster1.xml" Id="R2acded9aa9284d8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c22bcd60d044871" /><Relationship Type="http://schemas.openxmlformats.org/officeDocument/2006/relationships/notesMaster" Target="/ppt/notesMasters/notesMaster1.xml" Id="Rb4c2eb19ab2b41a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75edf5989644bc5" /><Relationship Type="http://schemas.openxmlformats.org/officeDocument/2006/relationships/notesMaster" Target="/ppt/notesMasters/notesMaster1.xml" Id="R43164ee6851645d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0feb0f491ed4d54" /><Relationship Type="http://schemas.openxmlformats.org/officeDocument/2006/relationships/notesMaster" Target="/ppt/notesMasters/notesMaster1.xml" Id="R8b8cb2677297488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e476647186e4994" /><Relationship Type="http://schemas.openxmlformats.org/officeDocument/2006/relationships/notesMaster" Target="/ppt/notesMasters/notesMaster1.xml" Id="R9ec6b6619193432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ae60b7bcf1b4360" /><Relationship Type="http://schemas.openxmlformats.org/officeDocument/2006/relationships/notesMaster" Target="/ppt/notesMasters/notesMaster1.xml" Id="Rabdca1869f64467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07551be3e1f4675" /><Relationship Type="http://schemas.openxmlformats.org/officeDocument/2006/relationships/notesMaster" Target="/ppt/notesMasters/notesMaster1.xml" Id="R4c7173c0119f4fb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b1db0d6832c4ed5" /><Relationship Type="http://schemas.openxmlformats.org/officeDocument/2006/relationships/notesMaster" Target="/ppt/notesMasters/notesMaster1.xml" Id="R8e6413ee98c849c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d8380ba1c3d4f6b" /><Relationship Type="http://schemas.openxmlformats.org/officeDocument/2006/relationships/notesMaster" Target="/ppt/notesMasters/notesMaster1.xml" Id="R6ee8842adcf646b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b8bd86f94584cea" /><Relationship Type="http://schemas.openxmlformats.org/officeDocument/2006/relationships/notesMaster" Target="/ppt/notesMasters/notesMaster1.xml" Id="R15f2018820564de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c91c28ae95b443b" /><Relationship Type="http://schemas.openxmlformats.org/officeDocument/2006/relationships/notesMaster" Target="/ppt/notesMasters/notesMaster1.xml" Id="R9919ab87d4804ec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7811700f38147cb" /><Relationship Type="http://schemas.openxmlformats.org/officeDocument/2006/relationships/notesMaster" Target="/ppt/notesMasters/notesMaster1.xml" Id="R93c38c780368466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69c81bea1bc4c69" /><Relationship Type="http://schemas.openxmlformats.org/officeDocument/2006/relationships/notesMaster" Target="/ppt/notesMasters/notesMaster1.xml" Id="Rb772e6a80b2440a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5975ae55cad47d9" /><Relationship Type="http://schemas.openxmlformats.org/officeDocument/2006/relationships/notesMaster" Target="/ppt/notesMasters/notesMaster1.xml" Id="Rebe35d31a47a43a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5755105409349ce" /><Relationship Type="http://schemas.openxmlformats.org/officeDocument/2006/relationships/notesMaster" Target="/ppt/notesMasters/notesMaster1.xml" Id="Rb6c031655ad24ba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ea78d4919b24f11" /><Relationship Type="http://schemas.openxmlformats.org/officeDocument/2006/relationships/notesMaster" Target="/ppt/notesMasters/notesMaster1.xml" Id="R235c84f699fb477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cd0a7e5949544bd" /><Relationship Type="http://schemas.openxmlformats.org/officeDocument/2006/relationships/notesMaster" Target="/ppt/notesMasters/notesMaster1.xml" Id="R272ce6a6a760462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4c743d954134fbf" /><Relationship Type="http://schemas.openxmlformats.org/officeDocument/2006/relationships/notesMaster" Target="/ppt/notesMasters/notesMaster1.xml" Id="Rb3aedd18b9044e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지난 차시에서 만든 팀과 아이디어를 이어간다. 오늘의 중심은 AI와 대화하며 콘텐츠의 경험과 내용을 구체화하고, 팀이 설명할 수 있는 계획서를 남기는 것이다. 실제 제조와 온라인 구현은 이후 과정으로 안내한다.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 메모 원본을 보며 본인이 생각했던 내용을 이야기하도록 한다. 공동 추리는 범인 찾기로 고정하지 않는다.</a:t>
            </a:r>
          </a:p>
          <a:p xmlns:a="http://schemas.openxmlformats.org/drawingml/2006/main">
            <a:r>
              <a:t>자료: 사용자 제공 학생 기획 메모 A02_KakaoTalk_Photo_2026-09-21-13-17-25 002.jpeg</a:t>
            </a:r>
          </a:p>
          <a:p xmlns:a="http://schemas.openxmlformats.org/drawingml/2006/main">
            <a:r>
              <a:t>이전 수업: https://dullg-landing-one.vercel.app/materials/ulleung-high-lesson-2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계획서를 먼저 보여주되 빈칸을 순서대로 모두 채우게 하는 수업으로 운영하지 않는다. AI와 함께 아이디어를 발전시킨 뒤, 팀이 결정한 내용을 문서로 묶는다. 선택 이유와 미확인 사항도 남긴다.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제공한 2026-10-21 울릉마블 스피드 레이싱 화면이다. 게임판, 카드, 플레이어와 조작 영역을 살펴보며 이러한 화면도 구체적인 규칙과 구성 정보가 있어야 구현할 수 있음을 설명한다. 이미지 속 세부 규칙을 오늘 학생이 선택한 기획의 확정 규칙으로 옮기지 않는다. 실제 현금 베팅을 하는 수업이 아니다.</a:t>
            </a:r>
          </a:p>
          <a:p xmlns:a="http://schemas.openxmlformats.org/drawingml/2006/main">
            <a:r>
              <a:t>자료: 사용자 첨부 스크린샷 2026-10-21 오후 11.55.52.png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기획을 한 번에 확정하려 하지 않는다. AI가 제안하면 학생이 선택하고 수정한다. 새 제안이 필요한 경우 이전 단계로 돌아가도 된다. 순서는 문서 작업의 흐름이며 사업팀 사이의 선후관계를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지난 차시의 목적·자료·요청·조건을 회수한다. 이 항목들은 요청을 이해시키는 방법이다. 각 항목에 답을 완성할 때까지 질문만 반복하게 하지 않는다. 현재 정보를 바탕으로 제안을 먼저 받는다.</a:t>
            </a:r>
          </a:p>
          <a:p xmlns:a="http://schemas.openxmlformats.org/drawingml/2006/main">
            <a:r>
              <a:t>출처: https://dullg-landing-one.vercel.app/materials/ulleung-high-lesson-2 45쪽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학생이 이 문장을 그대로 사용해도 되고 주제를 바꿔 써도 된다. 아직 고객이나 진행 방식이 미정이어도 출발할 수 있다. 예시 속 고객과 진행 방식은 이 수업을 위해 정한 가정이다.</a:t>
            </a:r>
          </a:p>
          <a:p xmlns:a="http://schemas.openxmlformats.org/drawingml/2006/main">
            <a:r>
              <a:t>기획 동반자 프롬프트 참고: https://dullg-landing-one.vercel.app/materials/modoo-startup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아래는 수업용으로 구성한 제안 예시이며 실제 학생팀의 확정안이나 AI 서비스의 실제 응답 기록이 아니다. 이름과 그림만 달라지는 제안보다 이용자의 행동과 끝나는 조건이 다른 제안을 비교한다.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고객을 대상으로 조사하기 전의 기대와 실제 확인된 반응을 구분한다. 지역 연결은 지명을 붙이는 것만이 아니라 행동이나 내용에 소재를 어떻게 쓰는지까지 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선택의 이유를 AI에게 알려야 이후 제안이 같은 방향으로 발전한다. 이 선택은 수업용 예시이며 학생이 여행 경주를 선택해야 하는 것은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좋아 보이는 방향을 보존하면서 어느 부분을 바꿀지 말한다. 조건을 많이 나열하는 것보다 바꿀 대상과 이유가 분명한 요청을 연습한다.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 번에 모든 규칙을 완성하려고 하기보다 시작 장면에서 이용자가 무엇을 보고 어떤 선택을 하는지 살핀다. 아래는 첫 장면 작성을 요청하는 예시이다.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예시는 가상 게임 규칙이다. 지명이나 실제 경로의 안전성·소요 시간과 연결하지 않는다. 두 선택이 게임 안에서 어떤 차이를 만드는지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아래 대화는 연습을 위해 구성한 것이다. 학생의 문제 제기를 받아 AI가 구체적인 운영안을 수정하는 장면에 집중한다. 바뀐 규칙을 실행해 본 결과로 표현하지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원래 학생 메모의 제목을 활용한 독립 기획 예시다. 독도에 대한 사실과 가상 생존 규칙을 섞지 않으며 실제 위험 행동 안내를 만들지 않는다. 게임에서 다룰 사실은 별도로 출처를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메모는 범인 찾기보다 다 같이 추리하여 정답을 찾아가는 방향이었다. 살인 사건이나 범인 역할을 필수 조건으로 추가하지 않는다. 지역 전설을 쓸 경우 실제 전승과 창작한 이야기를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매거진과 미디어는 게임의 부속품으로 고정하지 않는다. 독자, 읽는 경험, 코너와 매체의 구성에 맞추어 기획한다. 실제 인터뷰 발언과 조사 결과를 생성하지 않도록 한다.</a:t>
            </a:r>
          </a:p>
          <a:p xmlns:a="http://schemas.openxmlformats.org/drawingml/2006/main">
            <a:r>
              <a:t>이전 수업의 독립 팀 관계: https://dullg-landing-one.vercel.app/materials/ulleung-high-lesson-2 39~40쪽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학생이 보유한 실제 메모를 넣어 요청을 시작한다. 계정과 기기 사용은 학교 운영 조건에 따른다. 직접 입력하기 어려운 경우 팀이 요청문을 읽고 강사가 대신 시연한다. 미확정인 대상·규칙은 비워두고 제안을 받을 수 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제안을 읽고 모두 복사하지 않는다. 유지할 요소, 바꿀 요소, 아직 정하지 못한 요소를 팀이 구분한다. 모든 후보를 점수화할 필요는 없다.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AI에게 다시 작성하도록 했을 때 실제로 요구한 부분이 바뀌었는지 비교한다. 잘 맞던 다른 요소까지 사라졌는지도 확인한다. 도움이 필요한 팀에는 앞의 여행 경주 사례를 다시 보여준다. 예를 들어 상식 문제를 맞히면 앞으로 가던 규칙이 경로 선택과 카드 정보 활용으로 바뀌었는지 살펴본다.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지역 명칭이나 전설의 내용은 자료로 확인한다. 게임 규칙과 이야기는 창작할 수 있지만 사실 설명처럼 쓰지 않는다. 아직 조사하지 않은 반응이나 비용을 확정한 수치로 넣지 않는다.</a:t>
            </a:r>
          </a:p>
          <a:p xmlns:a="http://schemas.openxmlformats.org/drawingml/2006/main">
            <a:r>
              <a:t>이전 수업 검토 관점: https://dullg-landing-one.vercel.app/materials/ulleung-high-lesson-2 46쪽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한 문장이 모든 세부사항을 담을 필요는 없다. 누구를 위한 어떤 콘텐츠인지, 어떤 경험을 주고 싶은지가 읽히면 된다. 아래 내용은 수업용 가정이다.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두 콘텐츠는 독립된 예시다. 게임의 순서가 매거진의 제작 선행 조건이라는 뜻이 아니다. 이용자 관점으로 시작 장면과 진행, 끝난 상태를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구성 요소는 게임을 멋지게 보이도록 늘리는 목록이 아니다. 앞서 정한 행동이나 경험에 무엇이 필요한지 대응시킨다. 아래는 기획을 위한 예시이며 실제 제작 수량은 아직 확정하지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AI가 문서를 매끄럽게 만들면서 새 규칙·예산·성과를 확정해 넣지 않도록 한다. 팀의 결정, 제안 중 선택하지 않은 내용, 아직 미정인 내용을 구분해 문서화한다.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검토용 가상 문장을 읽고 근거 없이 늘어난 주장과 모순을 찾는다. 재미있는 기획이라는 판단과 실험으로 확인한 효과는 서로 다른 상태임을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앞의 여행 경주 사례를 하나의 문서로 묶은 수업용 예시다. 대상과 규칙은 실제 학생팀의 확정안이 아니다. 실제 학생팀은 자신의 선택과 수정 내용을 사용한다. 이 페이지는 전체 문서의 구조를 보는 용도이며 각 행은 앞에서 자세히 다루었다.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팀장 서우림·이다혜·김민중은 사용자가 선출 사실을 알려준 이름이다. 학생별 소속 팀을 임의로 배정하지 않는다. 팀장과 팀원이 다음 일을 나누도록 안내한다. 업무는 병렬로 진행할 수 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온라인 구현은 이후 진행할 방향이다. 오늘 모든 팀이 바로 웹게임을 완성한다고 약속하지 않는다. 먼저 시험할 기능과 경험을 정하면 후속 제작에 필요한 범위를 줄일 수 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지난 차시의 방향·역할·다음 틀을 기획 공유에 사용한다. 팀별 발표 시간을 임의로 정하지 않고 수업 여건에 따라 공유한다. 다른 팀은 어떤 장면이 구체적으로 보이는지, 어떤 부분을 더 설명해야 하는지 말한다.</a:t>
            </a:r>
          </a:p>
          <a:p xmlns:a="http://schemas.openxmlformats.org/drawingml/2006/main">
            <a:r>
              <a:t>연결 자료: https://dullg-landing-one.vercel.app/materials/ulleung-high-lesson-2 57쪽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다른 팀의 말은 검증된 이용자 조사 결과로 부풀리지 않는다. 피드백을 필요한 수정 대상으로 바꾸고, 기존 계획의 어떤 내용을 유지할지도 전달한다.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완료한 문서와 아직 확인할 사항을 구분한다. 파일에는 팀명을 넣고 대화의 선택 이유와 계획서를 함께 보관한다. 온라인 화면 구현과 체험은 후속 과정이며 실물 제작은 여건에 따라 검토한다.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826a12beaf41f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29a67e44644c8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e891076ef045d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9d6cb4d955463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39799c5c1243a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906a5eaa6245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84B81F-2B03-4F6F-A1C5-5D1296C41A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CCC429C-FCD3-4797-8A6A-96DD48091AB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67268C1-F254-45F4-BD10-A4D1F89759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A37217-6C8E-4982-A24B-7913D16C6E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1CC975F-B493-4AFC-9D13-39296C4E2A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EA2F0A6-91B8-40FB-BCE5-087CF4AB98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A20887-5FAC-43CF-9E16-E65B72D580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77C31D5-B5FA-4984-8F44-613A6CF07A9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D007F6-2916-4ABA-94E9-224FA91773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64F94F7-C36E-4256-B46D-C8B7778A34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f7e8819cdc4739" /><Relationship Type="http://schemas.openxmlformats.org/officeDocument/2006/relationships/slideLayout" Target="/ppt/slideLayouts/slideLayout1.xml" Id="R4981237fd2d240ff" /><Relationship Type="http://schemas.openxmlformats.org/officeDocument/2006/relationships/slideLayout" Target="/ppt/slideLayouts/slideLayout2.xml" Id="R7ee8035839164fab" /><Relationship Type="http://schemas.openxmlformats.org/officeDocument/2006/relationships/slideLayout" Target="/ppt/slideLayouts/slideLayout3.xml" Id="R2b845858425b4778" /><Relationship Type="http://schemas.openxmlformats.org/officeDocument/2006/relationships/slideLayout" Target="/ppt/slideLayouts/slideLayout4.xml" Id="Re9e4483dcb7a43e7" /><Relationship Type="http://schemas.openxmlformats.org/officeDocument/2006/relationships/slideLayout" Target="/ppt/slideLayouts/slideLayout5.xml" Id="R0512258bcd6c4856" /><Relationship Type="http://schemas.openxmlformats.org/officeDocument/2006/relationships/slideLayout" Target="/ppt/slideLayouts/slideLayout6.xml" Id="Rde109564a77645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81237fd2d240ff"/>
    <p:sldLayoutId xmlns:r="http://schemas.openxmlformats.org/officeDocument/2006/relationships" id="2147483650" r:id="R7ee8035839164fab"/>
    <p:sldLayoutId xmlns:r="http://schemas.openxmlformats.org/officeDocument/2006/relationships" id="2147483651" r:id="R2b845858425b4778"/>
    <p:sldLayoutId xmlns:r="http://schemas.openxmlformats.org/officeDocument/2006/relationships" id="2147483652" r:id="Re9e4483dcb7a43e7"/>
    <p:sldLayoutId xmlns:r="http://schemas.openxmlformats.org/officeDocument/2006/relationships" id="2147483653" r:id="R0512258bcd6c4856"/>
    <p:sldLayoutId xmlns:r="http://schemas.openxmlformats.org/officeDocument/2006/relationships" id="2147483654" r:id="Rde109564a77645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63ecd0f6b94527" /><Relationship Type="http://schemas.openxmlformats.org/officeDocument/2006/relationships/notesSlide" Target="/ppt/notesSlides/notesSlide1.xml" Id="R7df55e3ea25743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8040d076834299" /><Relationship Type="http://schemas.openxmlformats.org/officeDocument/2006/relationships/image" Target="/ppt/media/image.jpeg" Id="R49f7a2a9948e4c33" /><Relationship Type="http://schemas.openxmlformats.org/officeDocument/2006/relationships/notesSlide" Target="/ppt/notesSlides/notesSlide2.xml" Id="R1a0a83b61b9349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df77a065704a37" /><Relationship Type="http://schemas.openxmlformats.org/officeDocument/2006/relationships/notesSlide" Target="/ppt/notesSlides/notesSlide3.xml" Id="Rc0fc41de6a8e45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6b95bc6c9c45c7" /><Relationship Type="http://schemas.openxmlformats.org/officeDocument/2006/relationships/image" Target="/ppt/media/image.png" Id="R2fa6c5cce7c6413b" /><Relationship Type="http://schemas.openxmlformats.org/officeDocument/2006/relationships/notesSlide" Target="/ppt/notesSlides/notesSlide4.xml" Id="Ra72e51977c6f4e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66debb7ac345a6" /><Relationship Type="http://schemas.openxmlformats.org/officeDocument/2006/relationships/notesSlide" Target="/ppt/notesSlides/notesSlide5.xml" Id="R1a0101a148bd42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c834e697074e25" /><Relationship Type="http://schemas.openxmlformats.org/officeDocument/2006/relationships/notesSlide" Target="/ppt/notesSlides/notesSlide6.xml" Id="R51ee70b2b16e4c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7fdb5d3f564698" /><Relationship Type="http://schemas.openxmlformats.org/officeDocument/2006/relationships/notesSlide" Target="/ppt/notesSlides/notesSlide7.xml" Id="R1f8e0595266842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3d6a28db634037" /><Relationship Type="http://schemas.openxmlformats.org/officeDocument/2006/relationships/notesSlide" Target="/ppt/notesSlides/notesSlide8.xml" Id="R8d8dcc355d4c4a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086a3b496948bd" /><Relationship Type="http://schemas.openxmlformats.org/officeDocument/2006/relationships/notesSlide" Target="/ppt/notesSlides/notesSlide9.xml" Id="R3a8c20d2856543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22574388ac4b0c" /><Relationship Type="http://schemas.openxmlformats.org/officeDocument/2006/relationships/notesSlide" Target="/ppt/notesSlides/notesSlide10.xml" Id="R9605240e70e34a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ec64eec71f4340" /><Relationship Type="http://schemas.openxmlformats.org/officeDocument/2006/relationships/notesSlide" Target="/ppt/notesSlides/notesSlide11.xml" Id="R8877808844784e2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1083170a7d4229" /><Relationship Type="http://schemas.openxmlformats.org/officeDocument/2006/relationships/notesSlide" Target="/ppt/notesSlides/notesSlide12.xml" Id="R6dbf68852ba746a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0de77876b44b1e" /><Relationship Type="http://schemas.openxmlformats.org/officeDocument/2006/relationships/notesSlide" Target="/ppt/notesSlides/notesSlide13.xml" Id="Rb4dc3377ce1f430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df404601ae434f" /><Relationship Type="http://schemas.openxmlformats.org/officeDocument/2006/relationships/notesSlide" Target="/ppt/notesSlides/notesSlide14.xml" Id="Rac531bb0fb1e483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2d0ee8184a40c7" /><Relationship Type="http://schemas.openxmlformats.org/officeDocument/2006/relationships/notesSlide" Target="/ppt/notesSlides/notesSlide15.xml" Id="Rdf8234d07072413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afbc77a9454f69" /><Relationship Type="http://schemas.openxmlformats.org/officeDocument/2006/relationships/notesSlide" Target="/ppt/notesSlides/notesSlide16.xml" Id="R2a74743a44f342c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7c17bd91a74a49" /><Relationship Type="http://schemas.openxmlformats.org/officeDocument/2006/relationships/notesSlide" Target="/ppt/notesSlides/notesSlide17.xml" Id="R12f23188061a408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9fcd2589754e52" /><Relationship Type="http://schemas.openxmlformats.org/officeDocument/2006/relationships/notesSlide" Target="/ppt/notesSlides/notesSlide18.xml" Id="R0ef898e790174d2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edb751ae11418a" /><Relationship Type="http://schemas.openxmlformats.org/officeDocument/2006/relationships/notesSlide" Target="/ppt/notesSlides/notesSlide19.xml" Id="R0c20db7ca18a4db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bf8073352148a2" /><Relationship Type="http://schemas.openxmlformats.org/officeDocument/2006/relationships/notesSlide" Target="/ppt/notesSlides/notesSlide20.xml" Id="Rb64ea1cdeabf4ad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29d7dc7b4c40bc" /><Relationship Type="http://schemas.openxmlformats.org/officeDocument/2006/relationships/notesSlide" Target="/ppt/notesSlides/notesSlide21.xml" Id="R75cfb0a713454c7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18df3e66d34d3f" /><Relationship Type="http://schemas.openxmlformats.org/officeDocument/2006/relationships/notesSlide" Target="/ppt/notesSlides/notesSlide22.xml" Id="R6e3cf519362e4da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84a9d5ec2145ee" /><Relationship Type="http://schemas.openxmlformats.org/officeDocument/2006/relationships/notesSlide" Target="/ppt/notesSlides/notesSlide23.xml" Id="Rd4b6d001eede445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3c2de789354076" /><Relationship Type="http://schemas.openxmlformats.org/officeDocument/2006/relationships/notesSlide" Target="/ppt/notesSlides/notesSlide24.xml" Id="Re785d7311262432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2b3e5c31ee45d8" /><Relationship Type="http://schemas.openxmlformats.org/officeDocument/2006/relationships/notesSlide" Target="/ppt/notesSlides/notesSlide25.xml" Id="Rce22f4754ae5479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a3bf4a18e146a5" /><Relationship Type="http://schemas.openxmlformats.org/officeDocument/2006/relationships/notesSlide" Target="/ppt/notesSlides/notesSlide26.xml" Id="R0a7ad50bcad245c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c709ceb3444527" /><Relationship Type="http://schemas.openxmlformats.org/officeDocument/2006/relationships/notesSlide" Target="/ppt/notesSlides/notesSlide27.xml" Id="Rdadd2194da064f3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2c97d01af44b10" /><Relationship Type="http://schemas.openxmlformats.org/officeDocument/2006/relationships/notesSlide" Target="/ppt/notesSlides/notesSlide28.xml" Id="Rf8eae46df9194f3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baa17eb35e4d76" /><Relationship Type="http://schemas.openxmlformats.org/officeDocument/2006/relationships/notesSlide" Target="/ppt/notesSlides/notesSlide29.xml" Id="R5ab0d7d0334f438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a43e6af00d4ca8" /><Relationship Type="http://schemas.openxmlformats.org/officeDocument/2006/relationships/notesSlide" Target="/ppt/notesSlides/notesSlide30.xml" Id="Rba8acc3b94a8445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67b61b871d4bed" /><Relationship Type="http://schemas.openxmlformats.org/officeDocument/2006/relationships/notesSlide" Target="/ppt/notesSlides/notesSlide31.xml" Id="R7b22fb7ff54543c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e01c4163864502" /><Relationship Type="http://schemas.openxmlformats.org/officeDocument/2006/relationships/notesSlide" Target="/ppt/notesSlides/notesSlide32.xml" Id="R2d126275869c42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7ADCFF-967F-4CC4-A4E6-2CB6A78A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B7D1C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725" b="0">
                <a:solidFill>
                  <a:srgbClr val="B7D1C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725" b="0">
                <a:solidFill>
                  <a:srgbClr val="B7D1C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725" b="0">
                <a:solidFill>
                  <a:srgbClr val="B7D1C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725" b="0">
                <a:solidFill>
                  <a:srgbClr val="B7D1C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725" b="0">
                <a:solidFill>
                  <a:srgbClr val="B7D1C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725" b="0">
                <a:solidFill>
                  <a:srgbClr val="B7D1C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725" b="0">
                <a:solidFill>
                  <a:srgbClr val="B7D1C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725" b="0">
                <a:solidFill>
                  <a:srgbClr val="B7D1C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725" b="0">
                <a:solidFill>
                  <a:srgbClr val="B7D1C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B7D1C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B7D1C6"/>
                </a:solidFill>
                <a:latin typeface="Pretendard"/>
                <a:ea typeface="Pretendard"/>
                <a:cs typeface="Pretendard"/>
              </a:rPr>
              <a:t>울릉고 리빙랩 4차시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03A05-F47B-468B-951B-90CDB2EB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38325"/>
            <a:ext cx="107156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250" b="1">
                <a:solidFill>
                  <a:srgbClr val="F4F1E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5250" b="1">
                <a:solidFill>
                  <a:srgbClr val="F4F1E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5250" b="1">
                <a:solidFill>
                  <a:srgbClr val="F4F1E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5250" b="1">
                <a:solidFill>
                  <a:srgbClr val="F4F1E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5250" b="1">
                <a:solidFill>
                  <a:srgbClr val="F4F1E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5250" b="1">
                <a:solidFill>
                  <a:srgbClr val="F4F1E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5250" b="1">
                <a:solidFill>
                  <a:srgbClr val="F4F1E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5250" b="1">
                <a:solidFill>
                  <a:srgbClr val="F4F1E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5250" b="1">
                <a:solidFill>
                  <a:srgbClr val="F4F1E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5250" b="1">
                <a:solidFill>
                  <a:srgbClr val="F4F1E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5250" b="1">
                <a:solidFill>
                  <a:srgbClr val="F4F1E8"/>
                </a:solidFill>
                <a:latin typeface="Pretendard"/>
                <a:ea typeface="Pretendard"/>
                <a:cs typeface="Pretendard"/>
              </a:defRPr>
            </a:pPr>
            <a:r>
              <a:rPr sz="5250" b="1">
                <a:solidFill>
                  <a:srgbClr val="F4F1E8"/>
                </a:solidFill>
                <a:latin typeface="Pretendard"/>
                <a:ea typeface="Pretendard"/>
                <a:cs typeface="Pretendard"/>
              </a:rPr>
              <a:t>AI와 함께 만드는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5250" b="1">
                <a:solidFill>
                  <a:srgbClr val="F4F1E8"/>
                </a:solidFill>
                <a:latin typeface="Pretendard"/>
                <a:ea typeface="Pretendard"/>
                <a:cs typeface="Pretendard"/>
              </a:defRPr>
            </a:pPr>
            <a:r>
              <a:rPr sz="5250" b="1">
                <a:solidFill>
                  <a:srgbClr val="F4F1E8"/>
                </a:solidFill>
                <a:latin typeface="Pretendard"/>
                <a:ea typeface="Pretendard"/>
                <a:cs typeface="Pretendard"/>
              </a:rPr>
              <a:t>우리 콘텐츠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C9D36-0064-4208-893F-20AB27B8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D9E3DC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325" b="0">
                <a:solidFill>
                  <a:srgbClr val="D9E3DC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325" b="0">
                <a:solidFill>
                  <a:srgbClr val="D9E3DC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325" b="0">
                <a:solidFill>
                  <a:srgbClr val="D9E3DC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325" b="0">
                <a:solidFill>
                  <a:srgbClr val="D9E3DC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325" b="0">
                <a:solidFill>
                  <a:srgbClr val="D9E3DC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325" b="0">
                <a:solidFill>
                  <a:srgbClr val="D9E3DC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325" b="0">
                <a:solidFill>
                  <a:srgbClr val="D9E3DC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325" b="0">
                <a:solidFill>
                  <a:srgbClr val="D9E3DC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325" b="0">
                <a:solidFill>
                  <a:srgbClr val="D9E3D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325" b="0">
                <a:solidFill>
                  <a:srgbClr val="D9E3DC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D9E3DC"/>
                </a:solidFill>
                <a:latin typeface="Pretendard"/>
                <a:ea typeface="Pretendard"/>
                <a:cs typeface="Pretendard"/>
              </a:rPr>
              <a:t>아이디어를 제안하고, 고르고, 계획서로 정리하기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F2937-BD4D-4809-8070-24962A48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86425"/>
            <a:ext cx="10668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706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AA3EE-81E7-41BD-BA93-9613840F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721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B7D1C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575" b="0">
                <a:solidFill>
                  <a:srgbClr val="B7D1C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575" b="0">
                <a:solidFill>
                  <a:srgbClr val="B7D1C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575" b="0">
                <a:solidFill>
                  <a:srgbClr val="B7D1C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575" b="0">
                <a:solidFill>
                  <a:srgbClr val="B7D1C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575" b="0">
                <a:solidFill>
                  <a:srgbClr val="B7D1C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575" b="0">
                <a:solidFill>
                  <a:srgbClr val="B7D1C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575" b="0">
                <a:solidFill>
                  <a:srgbClr val="B7D1C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575" b="0">
                <a:solidFill>
                  <a:srgbClr val="B7D1C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575" b="0">
                <a:solidFill>
                  <a:srgbClr val="B7D1C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B7D1C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B7D1C6"/>
                </a:solidFill>
                <a:latin typeface="Pretendard"/>
                <a:ea typeface="Pretendard"/>
                <a:cs typeface="Pretendard"/>
              </a:rPr>
              <a:t>울릉고등학교 × 한동대학교 × 단서공방</a:t>
            </a:r>
          </a:p>
        </p:txBody>
      </p:sp>
    </p:spTree>
    <p:extLst>
      <p:ext uri="{BB962C8B-B14F-4D97-AF65-F5344CB8AC3E}">
        <p14:creationId xmlns:p14="http://schemas.microsoft.com/office/powerpoint/2010/main" val="17091080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F0A93-9727-4E77-A72E-A03D48AE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우리의 출발점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D014F8-027E-4740-A4E7-DC2FD26E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지난 시간에 나온 아이디어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C5343C-56E0-493B-9240-768F254D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울릉고 리빙랩 4차시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C8165-FD49-46EF-BA57-54453D39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47703-E32B-405D-AEA1-AE49C240D5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f7a2a9948e4c33"/>
          <a:stretch xmlns:a="http://schemas.openxmlformats.org/drawingml/2006/main"/>
        </p:blipFill>
        <p:spPr>
          <a:xfrm xmlns:a="http://schemas.openxmlformats.org/drawingml/2006/main">
            <a:off x="1047750" y="1952625"/>
            <a:ext cx="5143500" cy="3857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8D5940-E413-46B3-8BB5-58C94747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52650"/>
            <a:ext cx="4381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32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32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32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32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32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32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32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32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32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32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울릉마블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32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독도에서 살아남기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32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울릉의 전설과 바위 이야기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32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함께 단서를 풀어가는 추리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0F1628-BBDF-4A6C-BEC4-191E5461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57750"/>
            <a:ext cx="4286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250" b="0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250" b="0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250" b="0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250" b="0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250" b="0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250" b="0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250" b="0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250" b="0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250" b="0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250" b="0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우리 팀은 어떤 생각을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250" b="0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더 발전시키고 싶나요?</a:t>
            </a:r>
          </a:p>
        </p:txBody>
      </p:sp>
    </p:spTree>
    <p:extLst>
      <p:ext uri="{BB962C8B-B14F-4D97-AF65-F5344CB8AC3E}">
        <p14:creationId xmlns:p14="http://schemas.microsoft.com/office/powerpoint/2010/main" val="2072584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18F165-D424-4A07-871D-C1DAAE71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오늘의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5FDB5-0520-4D9A-82CC-1180002F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오늘 남길 계획서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9D026-025C-420B-9FE8-8E34667F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울릉고 리빙랩 4차시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0BEF9-598F-4957-AB6F-7AF627BA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71295-C1F5-4835-9936-5D60C0A3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743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누구를 위해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C94F12-BD91-4660-860E-AB3011E6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095500"/>
            <a:ext cx="881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이 콘텐츠를 사용할 사람과 그 사람의 상황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CAE0D-CA7A-49A0-9DB0-576A5D63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67025"/>
            <a:ext cx="10668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645FA-9F04-4AE7-97DF-1516A641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743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어떤 경험을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F3D9B5-6C07-4C1D-9ACB-8C41D36B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57525"/>
            <a:ext cx="881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재미, 정보, 발견 등 이용자가 얻을 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AFCCA-BF3A-4C2A-90C4-E8CF20E9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668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A3103B-854F-4FEB-85A3-DC00F31C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1743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어떻게 진행할지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7DF91F-0FD4-4A9B-92BF-D2619F2B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019550"/>
            <a:ext cx="881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처음부터 끝까지 이어지는 내용과 필요한 구성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D044EC-E96B-4A48-9AA9-98F99ADC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10668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B4028F-52FB-4298-9BB5-92E6D389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1743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무엇을 확인할지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34863A-155C-4624-AD75-EBD405F5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981575"/>
            <a:ext cx="881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담당할 일, 다음에 알아볼 질문과 시험할 부분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09827B-A668-47E1-B0DE-CF5DF53F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5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536002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A21A3F-13C1-43F1-A44E-EDF1CE8F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온라인 구현 사례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EB2E7-0C75-45A6-9E7E-6013F821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계획이 화면으로 이어지면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5BA59-CA09-4AD5-9BF6-7403AEF7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울릉고 리빙랩 4차시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90E3EF-6252-4533-92F8-78A2D488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CDBB07-A6D7-4385-B955-F4286D0F31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a6c5cce7c6413b"/>
          <a:stretch xmlns:a="http://schemas.openxmlformats.org/drawingml/2006/main"/>
        </p:blipFill>
        <p:spPr>
          <a:xfrm xmlns:a="http://schemas.openxmlformats.org/drawingml/2006/main">
            <a:off x="1560580" y="1876425"/>
            <a:ext cx="4746491" cy="4171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826C9-4E55-4ED1-9DF5-50C6C2EA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14550"/>
            <a:ext cx="3714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40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40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40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40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40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40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40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40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40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40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지도와 이동 경로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40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카드와 구성 요소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40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플레이어가 하는 행동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5FACA-2A96-4F3C-AAFA-DBB9BA47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2910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0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0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0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0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0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0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0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0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0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025" b="0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계획을 바탕으로 화면을 만들고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025" b="0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온라인에서 체험해볼 수 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97929-522F-480D-BC41-318F00B9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457825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6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6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6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6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6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6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6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6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6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실물 제작은 이후 여건에 따라 검토합니다.</a:t>
            </a:r>
          </a:p>
        </p:txBody>
      </p:sp>
    </p:spTree>
    <p:extLst>
      <p:ext uri="{BB962C8B-B14F-4D97-AF65-F5344CB8AC3E}">
        <p14:creationId xmlns:p14="http://schemas.microsoft.com/office/powerpoint/2010/main" val="7659618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BB0C97-F105-4348-948F-76BBC9A59906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715375" y="32480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571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E2ECFC-3739-4605-A8C0-1D5CA1564E8C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905500" y="32480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571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4A3BB9-217F-4873-8792-ACABCE68306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95625" y="32480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571"/>
            </a:solidFill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EDE23D-5934-4CD3-AB06-B1DC1A79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AI와 함께 기획하기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23C62-00C6-4F8C-9F13-7D9C2A12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아이디어에서 계획까지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EF8F2-3F0D-4498-B5DA-90A93AAE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울릉고 리빙랩 4차시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2B56F-972B-477B-80E0-761917D2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3AC428-ABCC-4499-BB24-7D4FCF69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2333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B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13FFC3-6EE8-418B-A488-2305761A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1952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현재 생각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E7B3A-4881-44BB-840C-32DE8498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아이디어와 자료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150B78-AE6C-48E5-917A-F7990290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667000"/>
            <a:ext cx="2333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BE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D56E0-6A54-417E-8BB8-243B15E0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38450"/>
            <a:ext cx="1952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AI 제안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8BEA41-3A65-4F8C-B27B-EBDD11A0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5280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다른 방향 비교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57B898-8217-4D83-B7BA-CA0CE902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2333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B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DEAF91-1FD9-4528-82B5-F3878DA2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38450"/>
            <a:ext cx="1952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팀의 선택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A1FA0F-70CA-4FCA-8371-36E7F5D5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5280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이유와 수정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FEF51F-4B35-4FA8-BDAB-1FAA936F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2333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BE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4E98B-BD01-4CD1-945A-0C128E08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838450"/>
            <a:ext cx="1952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계획서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EAF281-F337-4947-A840-516780AA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35280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결정한 내용 정리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811A94-EDB2-49F0-82BE-35B53070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47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47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47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47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47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47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47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47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47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47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475" b="1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AI의 제안을 읽고 우리 팀의 판단을 덧붙입니다.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69D090-436A-4CF6-B9A5-A6FB7BDE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244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모르는 부분은 질문하고, 바뀐 부분은 다시 정리합니다.</a:t>
            </a:r>
          </a:p>
        </p:txBody>
      </p:sp>
    </p:spTree>
    <p:extLst>
      <p:ext uri="{BB962C8B-B14F-4D97-AF65-F5344CB8AC3E}">
        <p14:creationId xmlns:p14="http://schemas.microsoft.com/office/powerpoint/2010/main" val="3364425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38C1FE-4D83-4502-8B4F-AEEDB414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요청문의 기본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A314F-745D-4625-A7F6-6DA140C9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AI에 무엇을 알려줄까요?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0E668-DF49-4BA1-8D6A-32B8D5D4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울릉고 리빙랩 4차시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DD0587-2E87-4882-8266-06C93C2F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0A3AF0-60B3-4F56-AB12-ED5CA1F5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3620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목적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AD510-AC36-49C5-A048-5A46775D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000250"/>
            <a:ext cx="9191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울릉의 이야기로 함께 즐길 콘텐츠를 기획하고 있어.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D1FBB3-43EE-456B-981A-6B9B564D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10668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BF1BF3-86B2-4129-A986-E323DDDB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13620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자료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C9FD9A-4234-4E53-A71C-A4BDD8A7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86075"/>
            <a:ext cx="9191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지난 시간의 아이디어와 우리 팀 메모를 붙일게.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6B9BB1-14C6-462B-8C18-E6480102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29025"/>
            <a:ext cx="10668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E849A1-7DFC-4C94-926F-6BAA06E7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13620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요청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DACEE-C756-4767-AEC3-B21DB7E5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771900"/>
            <a:ext cx="9191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서로 다른 기획 방향을 제안하고 추천 이유를 알려줘.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5B5B9E-C1D1-4BD7-8339-12044ED5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10668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5B53ED-B870-4BBD-83DA-90798662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13620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rPr>
              <a:t>조건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2EC841-3B32-4DA0-B403-10F12883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57725"/>
            <a:ext cx="9191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가정은 표시하고, 중요한 질문만 1~3개 해줘.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128ACE-5BF0-48BA-91A7-D25FC0C5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00675"/>
            <a:ext cx="10668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5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238223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F051D-4D04-4CF5-977A-6D0ED199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함께 읽는 요청문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F710CF-5624-4167-94B4-312D7EFF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첫 요청의 예시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A40059-C1E2-4B28-AFAA-42DD83BC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울릉고 리빙랩 4차시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C666E-CFC0-4C49-8752-E5E806D2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8FB632-2613-4643-AE3A-E42C9C90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14525"/>
            <a:ext cx="38100" cy="3552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57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C83856-CC7A-47D0-A77F-B626802D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85975"/>
            <a:ext cx="10096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울릉의 장소와 이야기를 담은 “울릉마블”을 기획하고 있어.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서로 다른 놀이 방식 세 가지를 제안해줘.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누가 즐기고, 무엇을 하며, 어떻게 끝나는지 설명해줘.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지역의 사실은 붙인 자료를 쓰고, 창작 설정은 구분해줘.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추천할 안과 이유를 먼저 제시하고,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중요한 질문만 1~3개 해줘.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A3B598-8A61-4ECA-996C-AB85D6B7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98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우리 팀의 메모나 자료가 있다면 요청문 아래에 함께 붙입니다.</a:t>
            </a:r>
          </a:p>
        </p:txBody>
      </p:sp>
    </p:spTree>
    <p:extLst>
      <p:ext uri="{BB962C8B-B14F-4D97-AF65-F5344CB8AC3E}">
        <p14:creationId xmlns:p14="http://schemas.microsoft.com/office/powerpoint/2010/main" val="14578457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D3C105-DA65-48DB-89B3-1D144276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AI 제안을 비교하기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F44D9-47FA-4808-A64F-A55C5A64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서로 다른 세 가지 제안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5144F-650D-46EA-9E4F-DF71360A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울릉고 리빙랩 4차시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FC8A3-54B8-483F-AEB3-1403CCF8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9B63B-1B88-49AA-8296-F87328F85724}"/>
              </a:ext>
            </a:extLst>
          </p:cNvPr>
          <p:cNvGraphicFramePr/>
          <p:nvPr/>
        </p:nvGraphicFramePr>
        <p:xfrm>
          <a:off xmlns:a="http://schemas.openxmlformats.org/drawingml/2006/main" x="762000" y="2133600"/>
          <a:ext xmlns:a="http://schemas.openxmlformats.org/drawingml/2006/main" cx="106680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524375"/>
                <a:gridCol w="4048125"/>
              </a:tblGrid>
              <a:tr h="8096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47571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기획 방향</a:t>
                      </a:r>
                    </a:p>
                  </a:txBody>
                  <a:tcPr marL="142875" marR="142875" marT="114300" marB="95250" anchor="t">
                    <a:lnL w="9525">
                      <a:solidFill>
                        <a:srgbClr val="C7CEC5"/>
                      </a:solidFill>
                      <a:prstDash val="solid"/>
                    </a:lnL>
                    <a:lnR w="9525">
                      <a:solidFill>
                        <a:srgbClr val="C7CEC5"/>
                      </a:solidFill>
                      <a:prstDash val="solid"/>
                    </a:lnR>
                    <a:lnT w="9525">
                      <a:solidFill>
                        <a:srgbClr val="C7CEC5"/>
                      </a:solidFill>
                      <a:prstDash val="solid"/>
                    </a:lnT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DF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47571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플레이어가 하는 일</a:t>
                      </a:r>
                    </a:p>
                  </a:txBody>
                  <a:tcPr marL="142875" marR="142875" marT="114300" marB="95250" anchor="t">
                    <a:lnR w="9525">
                      <a:solidFill>
                        <a:srgbClr val="C7CEC5"/>
                      </a:solidFill>
                      <a:prstDash val="solid"/>
                    </a:lnR>
                    <a:lnT w="9525">
                      <a:solidFill>
                        <a:srgbClr val="C7CEC5"/>
                      </a:solidFill>
                      <a:prstDash val="solid"/>
                    </a:lnT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DF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47571"/>
                          </a:solidFill>
                          <a:latin typeface="Pretendard"/>
                          <a:ea typeface="Pretendard"/>
                          <a:cs typeface="Pretendard"/>
                        </a:rPr>
                        <a:t>끝나는 조건</a:t>
                      </a:r>
                    </a:p>
                  </a:txBody>
                  <a:tcPr marL="142875" marR="142875" marT="114300" marB="95250" anchor="t">
                    <a:lnR w="9525">
                      <a:solidFill>
                        <a:srgbClr val="C7CEC5"/>
                      </a:solidFill>
                      <a:prstDash val="solid"/>
                    </a:lnR>
                    <a:lnT w="9525">
                      <a:solidFill>
                        <a:srgbClr val="C7CEC5"/>
                      </a:solidFill>
                      <a:prstDash val="solid"/>
                    </a:lnT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DFEBE5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여행 경주</a:t>
                      </a:r>
                    </a:p>
                  </a:txBody>
                  <a:tcPr marL="142875" marR="142875" marT="114300" marB="95250" anchor="t">
                    <a:lnL w="9525">
                      <a:solidFill>
                        <a:srgbClr val="C7CEC5"/>
                      </a:solidFill>
                      <a:prstDash val="solid"/>
                    </a:lnL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각자 경로를 고르고</a:t>
                      </a:r>
                    </a:p>
                    <a:p>
                      <a:r>
                        <a:rPr sz="1950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여행 미션을 수행</a:t>
                      </a:r>
                    </a:p>
                  </a:txBody>
                  <a:tcPr marL="142875" marR="142875" marT="114300" marB="95250" anchor="t"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정해진 여행 목표에</a:t>
                      </a:r>
                    </a:p>
                    <a:p>
                      <a:r>
                        <a:rPr sz="1950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먼저 도달</a:t>
                      </a:r>
                    </a:p>
                  </a:txBody>
                  <a:tcPr marL="142875" marR="142875" marT="114300" marB="95250" anchor="t"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협력 탐험</a:t>
                      </a:r>
                    </a:p>
                  </a:txBody>
                  <a:tcPr marL="142875" marR="142875" marT="114300" marB="95250" anchor="t">
                    <a:lnL w="9525">
                      <a:solidFill>
                        <a:srgbClr val="C7CEC5"/>
                      </a:solidFill>
                      <a:prstDash val="solid"/>
                    </a:lnL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서로 필요한 정보를</a:t>
                      </a:r>
                    </a:p>
                    <a:p>
                      <a:r>
                        <a:rPr sz="1950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나누며 공동 미션 수행</a:t>
                      </a:r>
                    </a:p>
                  </a:txBody>
                  <a:tcPr marL="142875" marR="142875" marT="114300" marB="95250" anchor="t"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모든 플레이어가</a:t>
                      </a:r>
                    </a:p>
                    <a:p>
                      <a:r>
                        <a:rPr sz="1950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공동 목표 달성</a:t>
                      </a:r>
                    </a:p>
                  </a:txBody>
                  <a:tcPr marL="142875" marR="142875" marT="114300" marB="95250" anchor="t"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공동 추리</a:t>
                      </a:r>
                    </a:p>
                  </a:txBody>
                  <a:tcPr marL="142875" marR="142875" marT="114300" marB="95250" anchor="t">
                    <a:lnL w="9525">
                      <a:solidFill>
                        <a:srgbClr val="C7CEC5"/>
                      </a:solidFill>
                      <a:prstDash val="solid"/>
                    </a:lnL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장소별 단서를 모아</a:t>
                      </a:r>
                    </a:p>
                    <a:p>
                      <a:r>
                        <a:rPr sz="1950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이야기의 답을 토론</a:t>
                      </a:r>
                    </a:p>
                  </a:txBody>
                  <a:tcPr marL="142875" marR="142875" marT="114300" marB="95250" anchor="t"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단서를 연결해</a:t>
                      </a:r>
                    </a:p>
                    <a:p>
                      <a:r>
                        <a:rPr sz="1950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공통 해답 제시</a:t>
                      </a:r>
                    </a:p>
                  </a:txBody>
                  <a:tcPr marL="142875" marR="142875" marT="114300" marB="95250" anchor="t"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CA291-02E8-4D18-BB25-C4729FB2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98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수업용 기획 예시 · 규칙과 목표는 팀에서 바꿀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0926332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E90D80-EAA5-47D1-8EEC-D1F797A7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제안에 대한 판단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2D7B6-AE74-48C3-8ECD-B3ACFAC3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우리 팀이 고를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2FFDE-DF32-422B-BDE7-3419EB52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울릉고 리빙랩 4차시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6FE684-7F2E-4F4B-9365-21C6F0E3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8B76B-F732-4FB0-B2F2-3A714734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743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이용자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0F115-30ED-4E5E-A4D5-746881A8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095500"/>
            <a:ext cx="881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누가, 어떤 상황에서 사용할까요?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C0723B-604B-4BBE-9C90-1BC77747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67025"/>
            <a:ext cx="10668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C37076-0BF8-401D-B6D5-3A553310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743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경험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CD555E-E367-4DA8-A692-554B3C3E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57525"/>
            <a:ext cx="881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어떤 행동이나 내용이 흥미로울까요?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96310B-47BE-4695-98F3-457CF7FE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668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8C369B-6A4C-447A-9450-3819912F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1743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지역과의 연결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52F274-254F-45E9-A442-32B8FD3C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019550"/>
            <a:ext cx="881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울릉의 장소와 이야기가 어디에 쓰이나요?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92D622-595F-40B9-8C2D-8CEFF5DC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10668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BCE1B7-5168-4C61-8E2B-4DB14A07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1743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첫 시험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F84EA2-8ED6-4E30-A17E-CEC5B2D4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981575"/>
            <a:ext cx="881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어느 부분을 먼저 만들어 확인할 수 있나요?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9E3D92-8A81-44FE-9D9F-25ECA0CE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5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602382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5316F6-6B90-4831-AAFE-6F38487B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학생의 선택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30BE9-9720-4DA9-BF89-D1016D3A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고른 안에 이유를 붙이기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B5940-B36A-4529-8B26-8B928624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울릉고 리빙랩 4차시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8FFFD8-C1BC-4F00-9F3E-CBC5F06E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A82A1-342F-45B5-B8AE-71E9B447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8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우리는 여행 경주를 골랐습니다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3EF70-B2D0-41A6-9941-1E7D4E74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10572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5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5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5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5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5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5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5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5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5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5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각자 다른 길을 선택하면서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5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울릉의 여러 장소를 이야기할 수 있기 때문입니다.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FA675-61D5-4FC8-9179-4A948BEF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38675"/>
            <a:ext cx="10668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AA257-8635-4F54-9BEA-CEF7B985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967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875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875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875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875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875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875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875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875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875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A34F3D"/>
                </a:solidFill>
                <a:latin typeface="Pretendard"/>
                <a:ea typeface="Pretendard"/>
                <a:cs typeface="Pretendard"/>
              </a:rPr>
              <a:t>다음 요청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6CBBD2-F19B-4749-B396-9C0A10F5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981575"/>
            <a:ext cx="866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이 방향을 유지하면서, 플레이어가 고를 수 있는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서로 다른 경로와 선택의 결과를 제안해줘.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F7562E-0D81-42EA-9998-AB37D438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98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수업용 기획 예시</a:t>
            </a:r>
          </a:p>
        </p:txBody>
      </p:sp>
    </p:spTree>
    <p:extLst>
      <p:ext uri="{BB962C8B-B14F-4D97-AF65-F5344CB8AC3E}">
        <p14:creationId xmlns:p14="http://schemas.microsoft.com/office/powerpoint/2010/main" val="19390343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96EF26-6B90-49B4-8066-95584989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AI 답변을 다듬는 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1A92F8-9C86-423A-9C08-BAAE7C37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수정 요청의 구체성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C493E-7D1D-426F-8F5F-4B167C8D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울릉고 리빙랩 4차시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57FDD-E85D-4897-9266-33EFADD0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429CA0-B849-4E0F-8EF7-ACCD26DF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1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1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1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1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1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1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1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1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1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025" b="1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처음 요청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FD05B-FC75-4B9F-9CE4-3AC9C788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바꿀 부분을 알려준 요청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87FE94-AA0D-4BE1-B6C1-9D6FFEA2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66950"/>
            <a:ext cx="14288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CFE0C-C70E-46D4-9700-51ED7DD0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“더 재미있게 해줘.”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490D63-9C5D-4736-8500-B2F051B9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1465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“주사위를 굴리는 일만 반복돼.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두 경로 중 하나를 고르게 하고,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각 선택의 이점과 부담이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다르게 드러나도록 바꿔줘.”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C1C7C9-9158-47E0-8053-C4A68685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98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수정할 부분과 원하는 변화를 함께 말합니다.</a:t>
            </a:r>
          </a:p>
        </p:txBody>
      </p:sp>
    </p:spTree>
    <p:extLst>
      <p:ext uri="{BB962C8B-B14F-4D97-AF65-F5344CB8AC3E}">
        <p14:creationId xmlns:p14="http://schemas.microsoft.com/office/powerpoint/2010/main" val="21237996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8210BF-E3C9-482A-9AA0-CC1CE1AB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진행 방식을 만드는 대화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8BC527-8CEA-4FB9-8121-26E1BE0E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첫 장면을 구체화하기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354B4-2F05-417F-8CDA-2573DA7C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울릉고 리빙랩 4차시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81753-51D6-4616-9DA7-1C45BA36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F2A8E6-FA49-4646-92F2-066EAB04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38100" cy="307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57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98C8A-C565-491E-B9CA-4B0459B4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4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4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4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4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4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4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4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4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4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4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플레이어가 처음 시작하는 장면을 설명해줘.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4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무엇을 보고 시작하는지,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4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어떤 선택을 하는지,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4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선택 뒤에 무엇이 달라지는지 써줘.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4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설명이 어려운 부분은 짧은 플레이 예시로 보여줘.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8E21A7-F15A-4961-90E4-83E55BD0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설명을 읽고 실제로 진행할 수 있는지 이야기해봅시다.</a:t>
            </a:r>
          </a:p>
        </p:txBody>
      </p:sp>
    </p:spTree>
    <p:extLst>
      <p:ext uri="{BB962C8B-B14F-4D97-AF65-F5344CB8AC3E}">
        <p14:creationId xmlns:p14="http://schemas.microsoft.com/office/powerpoint/2010/main" val="5421236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E33C7D-81C7-4DC6-9ECE-53D446D80E9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238500" y="3500438"/>
            <a:ext cx="1238250" cy="1309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47571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727C49-58AD-4D19-B179-97013DC05D3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238500" y="2724150"/>
            <a:ext cx="1238250" cy="7762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47571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35D2D0-D98E-45BA-B475-C31BBDD0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한 장면의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2B09C-1FB5-49BC-9462-B9F2D731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선택한 뒤에는 무엇이 바뀔까요?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A54F0-7EB9-4500-A105-FA94C425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울릉고 리빙랩 4차시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6E5CD-411B-4530-B8CE-B73C5A04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770E14-EB5B-40F4-ABD7-5BF4B0B6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2476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B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B0EDF0-4355-4325-B592-48D1B283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갈림길에 도착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FBB4F-B7A6-4064-8D9D-F2655553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4790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7A2D4B-480B-4837-A36B-A2AC5E1C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52700"/>
            <a:ext cx="2428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7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7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7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7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7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7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7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7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7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7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빠른 경로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01EC3-AB98-473C-B9CA-79D7D760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33875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F055AA-15B0-41B1-B5A2-ECEAE5A5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38675"/>
            <a:ext cx="2428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7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7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7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7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7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7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7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7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7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7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탐색 경로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82B24C-3F16-428C-8E13-596CA187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76475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이동에 유리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정보를 얻을 기회는 적음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F098FC-0208-4B07-8ED0-710921CF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6245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이동은 더 필요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다음 선택에 쓸 정보 획득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265D02-94F0-4059-A850-98C45641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98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수업용 기획 예시 · 실제 이동 경로나 소요 시간을 뜻하지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3394798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C36282-880D-4463-AD70-4CACB9D3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같은 기획안을 계속 발전시키기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CBF5C4-356F-4B15-BD01-94750033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울릉마블을 다듬는 대화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6689A2-532D-4533-8336-C22BF298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울릉고 리빙랩 4차시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28EB6-E7B3-475A-8C37-F755137E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D816E-F0C8-489E-A11B-BB6BF474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1885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AI의 첫 제안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0B9EA-F811-4503-8E9B-11557151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33600"/>
            <a:ext cx="866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주사위를 굴리고, 도착한 장소의 문제를 풉니다.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C957E2-F006-420A-AC43-7850732C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10668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3CDB3-4BA9-4C9C-8225-C1A82A79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1885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rPr>
              <a:t>학생의 수정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8D3279-5E0D-4A25-9B97-5D0A7C62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24200"/>
            <a:ext cx="866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지역 지식을 몰라도 참여하고, 선택할 일이 있게 해줘.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DF2E1-7797-4CAF-BC8E-F59B2585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668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D924B4-5EA9-48A8-BCF3-EBEC8AA7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1885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수정된 제안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4658B-2FDD-4C24-8519-32FC5AA7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14800"/>
            <a:ext cx="866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경로를 고르고, 장소 카드의 정보를 읽어 미션을 선택합니다.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EE675A-FEBE-42CC-970D-1054A65A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10668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BE69A1-4C02-460D-B442-7B342F0F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2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2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2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2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2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2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2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2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2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2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수정 후 확인할 것: 어느 경로도 늘 유리하지 않은가?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4890E9-7D56-4DF0-A536-5E4D45CE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98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대화 연습 예시</a:t>
            </a:r>
          </a:p>
        </p:txBody>
      </p:sp>
    </p:spTree>
    <p:extLst>
      <p:ext uri="{BB962C8B-B14F-4D97-AF65-F5344CB8AC3E}">
        <p14:creationId xmlns:p14="http://schemas.microsoft.com/office/powerpoint/2010/main" val="15044670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20B83-FA1A-4BA9-9F73-0D9F90A8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다른 아이디어에 적용하기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2AD25-99D1-48C5-8688-D2ECDA7D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독도에서 살아남기를 다듬는 대화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87004-238F-4ABB-BDDF-0B977993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울릉고 리빙랩 4차시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9902C-CFB2-4773-B1FF-BC49A978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4F9DD-5D9E-4440-AC79-B023B839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62175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62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62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62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62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62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62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62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62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62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625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625" b="1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“함께 자원을 쓰고 생존하는 게임을 만들고 싶어.”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EF1BE-1DC6-4E20-8810-140F772D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381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57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505B31-C6B8-44D3-A6C4-6AB2D79D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1009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플레이어가 함께 판단할 상황을 제안해줘.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상황마다 선택과 결과를 보여주고,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독도의 실제 정보와 게임의 가상 설정을 나눠줘.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B4EFB-4CB6-4277-8C8E-34D8273F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875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875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875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875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875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875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875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875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875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A34F3D"/>
                </a:solidFill>
                <a:latin typeface="Pretendard"/>
                <a:ea typeface="Pretendard"/>
                <a:cs typeface="Pretendard"/>
              </a:rPr>
              <a:t>더 물어볼 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78C60B-0C73-40C3-84EA-4F19C295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72100"/>
            <a:ext cx="828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한 사람이 결정을 독점하면 어떻게 바꿀까요?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120AFD-864C-4918-BF41-CA2E21C3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98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수업용 기획 예시</a:t>
            </a:r>
          </a:p>
        </p:txBody>
      </p:sp>
    </p:spTree>
    <p:extLst>
      <p:ext uri="{BB962C8B-B14F-4D97-AF65-F5344CB8AC3E}">
        <p14:creationId xmlns:p14="http://schemas.microsoft.com/office/powerpoint/2010/main" val="60954480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E0B783-5F34-433B-8D9E-0B7BA243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정보를 나누는 경험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8B5FB-AF41-443B-B6E4-5AF4C6A3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함께 단서를 풀어가는 추리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9EA24-1DA8-4B43-8542-C631AB33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울릉고 리빙랩 4차시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99601-2060-4E46-92A2-BB1BFB41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C86646-287C-4AD0-9E83-5B35DE87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027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8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서로 가진 단서를 나누어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8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하나의 해답을 찾아갑니다.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9B3801-D79A-4114-823E-23D276FA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1362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AI에 요청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6D95C-2801-4A8D-82B8-9D0A0A00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762375"/>
            <a:ext cx="9191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0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사람마다 다른 단서를 가진 공동 추리 상황을 제안해줘.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95930-24E9-43C7-8747-B3570B81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10668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D5CE8C-9F4D-4867-A9A1-A52084F0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1362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팀에서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85F972-BB9A-4CDB-B3AF-39D9A5B1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57700"/>
            <a:ext cx="9191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0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단서를 나누어야 답을 찾을 수 있나요?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509230-D6CD-46BE-ADC0-096035B5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668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3849FB-FF9F-43A1-98CB-0E17821E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53025"/>
            <a:ext cx="1362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다시 수정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33F373-AE90-4144-9124-011F0F7A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153025"/>
            <a:ext cx="9191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0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한 단서만으로 답이 나오지 않게 연결 관계를 바꿔줘.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A07DCA-F15D-4F71-8D43-645A2057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10668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DDDD55-6579-4387-9DD0-CCE1E927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98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수업용 기획 예시</a:t>
            </a:r>
          </a:p>
        </p:txBody>
      </p:sp>
    </p:spTree>
    <p:extLst>
      <p:ext uri="{BB962C8B-B14F-4D97-AF65-F5344CB8AC3E}">
        <p14:creationId xmlns:p14="http://schemas.microsoft.com/office/powerpoint/2010/main" val="21264232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C739D6-D9AE-4CC7-B6C2-C02EEC40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콘텐츠에 맞게 요청 바꾸기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8DF62C-9A71-400C-B21E-21107F55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매거진과 미디어라면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81F63F-EB5C-4067-9CCC-4AFD76EF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울릉고 리빙랩 4차시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5B9C02-A8D2-4799-9FEE-902DEF98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7AFA79-239F-4C24-8F02-CB2A838D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7430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독자와 상황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954D16-33A0-4216-B41F-520E4367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095500"/>
            <a:ext cx="881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울릉에 처음 온 사람이 배를 기다리며 읽는 소식지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907084-8BFC-4802-9EB6-DD576346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2725"/>
            <a:ext cx="10668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6D0730-F9BB-49C2-A09B-46A37AA6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7430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첫 요청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6265D9-B856-4A5A-A9D2-6EC8955F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00375"/>
            <a:ext cx="881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독자가 골라 읽을 서로 다른 코너 구성을 제안해줘.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856BA5-BB6E-4815-A78D-09974959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10668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67FBB9-2AE6-4059-B7C5-F776030A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7430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수정 요청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FE5774-E626-4770-82F5-78E784D9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905250"/>
            <a:ext cx="881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한 장소를 주민의 경험과 방문자의 질문으로 나눠줘.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4782BD-1FF5-4CF0-BF29-2CADF3BA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62475"/>
            <a:ext cx="10668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69432D-95BC-42C8-BAEC-1E495619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17430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D67708-A930-4088-8CCC-384158D3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810125"/>
            <a:ext cx="881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취재할 사람, 사진 사용 허락, 정보의 출처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131D8A-33B3-448E-BB26-FD3B5917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10668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9C741D-001C-4126-83F7-449B966A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98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수업용 기획 예시 · 실제 인터뷰와 독자 반응은 별도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23947441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DD96DB-FE66-4218-B208-3F6EAD4C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팀별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72408-5D87-44C5-B9DB-A4D3523C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우리 팀의 첫 요청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C8622-6F13-4486-9E34-59463421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울릉고 리빙랩 4차시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1A14DF-3FBF-4BB1-B6A2-9D323427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5833F9-0EBF-4556-894A-1235C71C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3620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현재 생각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AC44AE-0E7E-4140-BD5C-2848DF9E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000250"/>
            <a:ext cx="9191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우리가 만들고 싶은 콘텐츠와 지금 나온 아이디어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827213-352F-4F05-AA49-4528F1AC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10668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6900D0-99D9-484D-B842-40DA748E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13620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붙일 자료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9CE8DA-85B3-4DFA-ADB3-3BFB3613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86075"/>
            <a:ext cx="9191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팀 메모, 참고 화면, 확인한 지역 자료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1ACFA6-4EE7-4DD1-A348-607B47C7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29025"/>
            <a:ext cx="10668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E8B93F-9AB0-49B9-9E3F-433D456E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13620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받을 제안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1EFBAC-C2C5-4EC5-A0DB-74F441A1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771900"/>
            <a:ext cx="9191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경험이 서로 다른 기획 방향과 추천 이유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16E9BB-593C-4E69-9534-BDA7529D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10668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9AAFE9-7FC1-4BFD-A0B1-5585B1DE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13620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A34F3D"/>
                </a:solidFill>
                <a:latin typeface="Pretendard"/>
                <a:ea typeface="Pretendard"/>
                <a:cs typeface="Pretendard"/>
              </a:rPr>
              <a:t>대화 조건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932663-816E-45B1-A5BF-CF7E836E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57725"/>
            <a:ext cx="9191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현재 정보로 먼저 제안하고, 중요한 질문만 해줘.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CFFA78-AD15-4CCB-ABD4-6093E931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00675"/>
            <a:ext cx="10668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CBCFFA-2A12-47F7-A769-E72906AE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98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기획 방향이 아직 없다면 관심 있는 지역 소재부터 알려줘도 됩니다.</a:t>
            </a:r>
          </a:p>
        </p:txBody>
      </p:sp>
    </p:spTree>
    <p:extLst>
      <p:ext uri="{BB962C8B-B14F-4D97-AF65-F5344CB8AC3E}">
        <p14:creationId xmlns:p14="http://schemas.microsoft.com/office/powerpoint/2010/main" val="27467334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C71A35-4752-493A-B2F7-6DB0E84E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팀의 판단을 남기기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FE29D-25BA-4619-82C9-40AF9A1E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제안에서 고를 것과 바꿀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811541-BF46-40FD-9A87-2CB7EE5A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울릉고 리빙랩 4차시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87FBF-58B2-49C3-A199-66EFBC0F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2B30FB-5E61-47B0-8FF8-3F0485DD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7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어느 부분을 남기고 싶나요?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4C3B18-5486-4A09-AF57-178309A0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그 부분이 우리 팀의 생각과 어떻게 맞나요?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FFDA6A-05F2-4C58-8907-E7D102A9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10668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598CF8-0099-4C95-BE62-4745C079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7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A34F3D"/>
                </a:solidFill>
                <a:latin typeface="Pretendard"/>
                <a:ea typeface="Pretendard"/>
                <a:cs typeface="Pretendard"/>
              </a:rPr>
              <a:t>어느 부분을 바꾸고 싶나요?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328E28-B60F-4F24-A601-F1630917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91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바꿀 대상과 원하는 변화를 AI에게 알려줍니다.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AFCB00-CC9F-4B86-930E-C78F7910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98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정하지 못한 내용은 두고, 지금 선택한 이유를 대화에 남깁니다.</a:t>
            </a:r>
          </a:p>
        </p:txBody>
      </p:sp>
    </p:spTree>
    <p:extLst>
      <p:ext uri="{BB962C8B-B14F-4D97-AF65-F5344CB8AC3E}">
        <p14:creationId xmlns:p14="http://schemas.microsoft.com/office/powerpoint/2010/main" val="153540596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7131D-6DAF-468B-9BE4-953790BF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우리 팀의 수정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5E34EB-5170-45AA-9AD6-FA6A87AA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수정한 부분을 비교하기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5C73E1-2AAC-47A7-BE5B-7952F52D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울릉고 리빙랩 4차시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5914A2-F2C7-4861-9A11-E8D3377B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4D4F6-A3DE-4BB6-9BE6-18626668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1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1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1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1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1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1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1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1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1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025" b="1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우리 팀의 처음 제안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FB0B9-BBEE-48D4-8B7E-28616912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우리 팀이 수정한 제안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CD38B1-F1FF-4494-AB9F-973FB938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66950"/>
            <a:ext cx="14288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E83230-6BB3-4B98-BB02-866528ED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처음 답변에서 고른 부분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아쉽거나 모호했던 부분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BF4E4-E396-433E-B825-55D3FDCA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1465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구체적으로 달라진 내용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계속 유지한 내용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다시 물어볼 내용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6FB3F6-15A9-4D51-873E-12490E93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98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대화에서 바뀐 부분을 찾아 팀원에게 설명해봅시다.</a:t>
            </a:r>
          </a:p>
        </p:txBody>
      </p:sp>
    </p:spTree>
    <p:extLst>
      <p:ext uri="{BB962C8B-B14F-4D97-AF65-F5344CB8AC3E}">
        <p14:creationId xmlns:p14="http://schemas.microsoft.com/office/powerpoint/2010/main" val="120119938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C36DAB-03E3-4A2B-BB20-6EB07B1F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AI 제안 검토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10653-47AD-4784-938C-09176C1B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사실과 설정을 나누기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98AE0F-53B3-4880-9045-0818895E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울릉고 리빙랩 4차시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6D3CF4-D094-4964-9D84-85B3F1BC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A8184B-8D03-4A94-AE59-19485417959A}"/>
              </a:ext>
            </a:extLst>
          </p:cNvPr>
          <p:cNvGraphicFramePr/>
          <p:nvPr/>
        </p:nvGraphicFramePr>
        <p:xfrm>
          <a:off xmlns:a="http://schemas.openxmlformats.org/drawingml/2006/main" x="762000" y="2124075"/>
          <a:ext xmlns:a="http://schemas.openxmlformats.org/drawingml/2006/main" cx="106680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286250"/>
                <a:gridCol w="4286250"/>
              </a:tblGrid>
              <a:tr h="8096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47571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구분</a:t>
                      </a:r>
                    </a:p>
                  </a:txBody>
                  <a:tcPr marL="142875" marR="142875" marT="114300" marB="95250" anchor="t">
                    <a:lnL w="9525">
                      <a:solidFill>
                        <a:srgbClr val="C7CEC5"/>
                      </a:solidFill>
                      <a:prstDash val="solid"/>
                    </a:lnL>
                    <a:lnR w="9525">
                      <a:solidFill>
                        <a:srgbClr val="C7CEC5"/>
                      </a:solidFill>
                      <a:prstDash val="solid"/>
                    </a:lnR>
                    <a:lnT w="9525">
                      <a:solidFill>
                        <a:srgbClr val="C7CEC5"/>
                      </a:solidFill>
                      <a:prstDash val="solid"/>
                    </a:lnT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DF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47571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예시</a:t>
                      </a:r>
                    </a:p>
                  </a:txBody>
                  <a:tcPr marL="142875" marR="142875" marT="114300" marB="95250" anchor="t">
                    <a:lnR w="9525">
                      <a:solidFill>
                        <a:srgbClr val="C7CEC5"/>
                      </a:solidFill>
                      <a:prstDash val="solid"/>
                    </a:lnR>
                    <a:lnT w="9525">
                      <a:solidFill>
                        <a:srgbClr val="C7CEC5"/>
                      </a:solidFill>
                      <a:prstDash val="solid"/>
                    </a:lnT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DF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47571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계획서에 남길 내용</a:t>
                      </a:r>
                    </a:p>
                  </a:txBody>
                  <a:tcPr marL="142875" marR="142875" marT="114300" marB="95250" anchor="t">
                    <a:lnR w="9525">
                      <a:solidFill>
                        <a:srgbClr val="C7CEC5"/>
                      </a:solidFill>
                      <a:prstDash val="solid"/>
                    </a:lnR>
                    <a:lnT w="9525">
                      <a:solidFill>
                        <a:srgbClr val="C7CEC5"/>
                      </a:solidFill>
                      <a:prstDash val="solid"/>
                    </a:lnT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DFEBE5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지역의 사실</a:t>
                      </a:r>
                    </a:p>
                  </a:txBody>
                  <a:tcPr marL="142875" marR="142875" marT="114300" marB="95250" anchor="t">
                    <a:lnL w="9525">
                      <a:solidFill>
                        <a:srgbClr val="C7CEC5"/>
                      </a:solidFill>
                      <a:prstDash val="solid"/>
                    </a:lnL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장소 이름, 역사, 생태 정보</a:t>
                      </a:r>
                    </a:p>
                  </a:txBody>
                  <a:tcPr marL="142875" marR="142875" marT="114300" marB="95250" anchor="t"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확인한 자료와 출처</a:t>
                      </a:r>
                    </a:p>
                  </a:txBody>
                  <a:tcPr marL="142875" marR="142875" marT="114300" marB="95250" anchor="t"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창작 설정</a:t>
                      </a:r>
                    </a:p>
                  </a:txBody>
                  <a:tcPr marL="142875" marR="142875" marT="114300" marB="95250" anchor="t">
                    <a:lnL w="9525">
                      <a:solidFill>
                        <a:srgbClr val="C7CEC5"/>
                      </a:solidFill>
                      <a:prstDash val="solid"/>
                    </a:lnL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탐험 미션, 가상 사건, 카드 효과</a:t>
                      </a:r>
                    </a:p>
                  </a:txBody>
                  <a:tcPr marL="142875" marR="142875" marT="114300" marB="95250" anchor="t"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게임 안의 설정과 규칙</a:t>
                      </a:r>
                    </a:p>
                  </a:txBody>
                  <a:tcPr marL="142875" marR="142875" marT="114300" marB="95250" anchor="t"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확인할 내용</a:t>
                      </a:r>
                    </a:p>
                  </a:txBody>
                  <a:tcPr marL="142875" marR="142875" marT="114300" marB="95250" anchor="t">
                    <a:lnL w="9525">
                      <a:solidFill>
                        <a:srgbClr val="C7CEC5"/>
                      </a:solidFill>
                      <a:prstDash val="solid"/>
                    </a:lnL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이용자 반응, 제작비, 사용 허락</a:t>
                      </a:r>
                    </a:p>
                  </a:txBody>
                  <a:tcPr marL="142875" marR="142875" marT="114300" marB="95250" anchor="t"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알아볼 질문과 확인 방법</a:t>
                      </a:r>
                    </a:p>
                  </a:txBody>
                  <a:tcPr marL="142875" marR="142875" marT="114300" marB="95250" anchor="t"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5FBB8-8B46-4157-B2C2-6EBD2518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AI가 덧붙인 사실은 원자료와 대조합니다.</a:t>
            </a:r>
          </a:p>
        </p:txBody>
      </p:sp>
    </p:spTree>
    <p:extLst>
      <p:ext uri="{BB962C8B-B14F-4D97-AF65-F5344CB8AC3E}">
        <p14:creationId xmlns:p14="http://schemas.microsoft.com/office/powerpoint/2010/main" val="126253611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85EBD8-BC20-496E-BAF1-CBDF56A8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대상과 경험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CD4F3-8DDC-4D4A-826B-112B720C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계획서의 첫 문장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CB37E1-B514-43FD-B40F-6CA0CD68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울릉고 리빙랩 4차시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36C6CD-D9E7-46E7-B08B-0D496E13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875CE9-3DF3-4856-9F61-69AB9E72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누가 사용할까요?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56B22A-3C3F-4786-93BD-89E79901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무엇을 하며 무엇을 얻을까요?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7ADD3A-F3EB-4A38-A104-17B7C167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381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57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8D6D9-3848-4C67-9BE3-7A3DEEB5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7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울릉을 방문한 가족이 경로와 미션을 고르며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7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지역의 장소와 이야기를 나누는 보드게임을 기획합니다.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6D04DA-ECFF-4365-B418-2CF9CFB6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우리 팀의 대상과 경험으로 바꾸어 적어봅시다.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46B3D8-FFB2-46A9-8578-83216C02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98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수업용 기획 예시</a:t>
            </a:r>
          </a:p>
        </p:txBody>
      </p:sp>
    </p:spTree>
    <p:extLst>
      <p:ext uri="{BB962C8B-B14F-4D97-AF65-F5344CB8AC3E}">
        <p14:creationId xmlns:p14="http://schemas.microsoft.com/office/powerpoint/2010/main" val="180507054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02A22A-FCAA-4EC1-98B6-3E0304C6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이용자가 경험하는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8BE95-87E3-4580-A82A-597665F5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내용과 진행 방식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7F8B2D-28A4-4930-B29F-E64EA73E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울릉고 리빙랩 4차시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9B239B-235E-4F87-9714-DB1861DF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1A0F8E-A7C1-4B03-B75A-2376AB91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1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1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1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1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1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1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1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1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1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025" b="1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보드게임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209587-198E-4379-BF5B-AE946F28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매거진과 미디어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FBC97-52AF-421B-8276-0990CDE4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43125"/>
            <a:ext cx="14288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8CCDDB-4B5F-4602-A8B0-5221AE84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목표와 시작 준비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차례에 하는 행동과 선택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선택에 따른 결과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게임이 끝나는 조건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7D521C-B8B6-44DC-B4D5-85691918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90825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처음 보는 소개와 목차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골라 읽는 코너와 이야기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정보를 더 찾아보는 방법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읽은 뒤 해볼 행동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809DA9-64FB-40E1-AB6C-53E175B3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98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설명만 읽고도 이용 장면을 떠올릴 수 있나요?</a:t>
            </a:r>
          </a:p>
        </p:txBody>
      </p:sp>
    </p:spTree>
    <p:extLst>
      <p:ext uri="{BB962C8B-B14F-4D97-AF65-F5344CB8AC3E}">
        <p14:creationId xmlns:p14="http://schemas.microsoft.com/office/powerpoint/2010/main" val="28484003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68690-AD87-4C72-8ECA-89E092A1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내용과 구성의 연결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0FB39B-84D1-44F0-B414-F3A78C93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필요한 구성 요소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77826-FCBD-480E-879A-157153FF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울릉고 리빙랩 4차시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2BA144-9DC6-4DC5-A956-6D09241A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72E7B-868B-4CCF-9CE5-79D8B3CADE9B}"/>
              </a:ext>
            </a:extLst>
          </p:cNvPr>
          <p:cNvGraphicFramePr/>
          <p:nvPr/>
        </p:nvGraphicFramePr>
        <p:xfrm>
          <a:off xmlns:a="http://schemas.openxmlformats.org/drawingml/2006/main" x="762000" y="2047875"/>
          <a:ext xmlns:a="http://schemas.openxmlformats.org/drawingml/2006/main" cx="106680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4572000"/>
              </a:tblGrid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7571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앞에서 정한 경험</a:t>
                      </a:r>
                    </a:p>
                  </a:txBody>
                  <a:tcPr marL="142875" marR="142875" marT="114300" marB="95250" anchor="t">
                    <a:lnL w="9525">
                      <a:solidFill>
                        <a:srgbClr val="C7CEC5"/>
                      </a:solidFill>
                      <a:prstDash val="solid"/>
                    </a:lnL>
                    <a:lnR w="9525">
                      <a:solidFill>
                        <a:srgbClr val="C7CEC5"/>
                      </a:solidFill>
                      <a:prstDash val="solid"/>
                    </a:lnR>
                    <a:lnT w="9525">
                      <a:solidFill>
                        <a:srgbClr val="C7CEC5"/>
                      </a:solidFill>
                      <a:prstDash val="solid"/>
                    </a:lnT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DF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7571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그 경험에 필요한 구성</a:t>
                      </a:r>
                    </a:p>
                  </a:txBody>
                  <a:tcPr marL="142875" marR="142875" marT="114300" marB="95250" anchor="t">
                    <a:lnR w="9525">
                      <a:solidFill>
                        <a:srgbClr val="C7CEC5"/>
                      </a:solidFill>
                      <a:prstDash val="solid"/>
                    </a:lnR>
                    <a:lnT w="9525">
                      <a:solidFill>
                        <a:srgbClr val="C7CEC5"/>
                      </a:solidFill>
                      <a:prstDash val="solid"/>
                    </a:lnT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DF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7571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적어둘 정보</a:t>
                      </a:r>
                    </a:p>
                  </a:txBody>
                  <a:tcPr marL="142875" marR="142875" marT="114300" marB="95250" anchor="t">
                    <a:lnR w="9525">
                      <a:solidFill>
                        <a:srgbClr val="C7CEC5"/>
                      </a:solidFill>
                      <a:prstDash val="solid"/>
                    </a:lnR>
                    <a:lnT w="9525">
                      <a:solidFill>
                        <a:srgbClr val="C7CEC5"/>
                      </a:solidFill>
                      <a:prstDash val="solid"/>
                    </a:lnT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DFEBE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경로를 고른다</a:t>
                      </a:r>
                    </a:p>
                  </a:txBody>
                  <a:tcPr marL="142875" marR="142875" marT="114300" marB="95250" anchor="t">
                    <a:lnL w="9525">
                      <a:solidFill>
                        <a:srgbClr val="C7CEC5"/>
                      </a:solidFill>
                      <a:prstDash val="solid"/>
                    </a:lnL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게임판 또는 지도</a:t>
                      </a:r>
                    </a:p>
                  </a:txBody>
                  <a:tcPr marL="142875" marR="142875" marT="114300" marB="95250" anchor="t"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갈림길과 이동 규칙</a:t>
                      </a:r>
                    </a:p>
                  </a:txBody>
                  <a:tcPr marL="142875" marR="142875" marT="114300" marB="95250" anchor="t"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장소 정보를 읽는다</a:t>
                      </a:r>
                    </a:p>
                  </a:txBody>
                  <a:tcPr marL="142875" marR="142875" marT="114300" marB="95250" anchor="t">
                    <a:lnL w="9525">
                      <a:solidFill>
                        <a:srgbClr val="C7CEC5"/>
                      </a:solidFill>
                      <a:prstDash val="solid"/>
                    </a:lnL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장소 카드</a:t>
                      </a:r>
                    </a:p>
                  </a:txBody>
                  <a:tcPr marL="142875" marR="142875" marT="114300" marB="95250" anchor="t"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장소명, 정보 출처, 미션</a:t>
                      </a:r>
                    </a:p>
                  </a:txBody>
                  <a:tcPr marL="142875" marR="142875" marT="114300" marB="95250" anchor="t"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각자 차례를 진행한다</a:t>
                      </a:r>
                    </a:p>
                  </a:txBody>
                  <a:tcPr marL="142875" marR="142875" marT="114300" marB="95250" anchor="t">
                    <a:lnL w="9525">
                      <a:solidFill>
                        <a:srgbClr val="C7CEC5"/>
                      </a:solidFill>
                      <a:prstDash val="solid"/>
                    </a:lnL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말과 진행 안내</a:t>
                      </a:r>
                    </a:p>
                  </a:txBody>
                  <a:tcPr marL="142875" marR="142875" marT="114300" marB="95250" anchor="t"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할 행동과 끝나는 조건</a:t>
                      </a:r>
                    </a:p>
                  </a:txBody>
                  <a:tcPr marL="142875" marR="142875" marT="114300" marB="95250" anchor="t"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코너를 골라 읽는다</a:t>
                      </a:r>
                    </a:p>
                  </a:txBody>
                  <a:tcPr marL="142875" marR="142875" marT="114300" marB="95250" anchor="t">
                    <a:lnL w="9525">
                      <a:solidFill>
                        <a:srgbClr val="C7CEC5"/>
                      </a:solidFill>
                      <a:prstDash val="solid"/>
                    </a:lnL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목차와 기사, 사진, 링크</a:t>
                      </a:r>
                    </a:p>
                  </a:txBody>
                  <a:tcPr marL="142875" marR="142875" marT="114300" marB="95250" anchor="t"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독자, 내용, 취재와 사용 허락</a:t>
                      </a:r>
                    </a:p>
                  </a:txBody>
                  <a:tcPr marL="142875" marR="142875" marT="114300" marB="95250" anchor="t"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F8B0E-1249-4242-B488-3B39D927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98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수업용 기획 예시</a:t>
            </a:r>
          </a:p>
        </p:txBody>
      </p:sp>
    </p:spTree>
    <p:extLst>
      <p:ext uri="{BB962C8B-B14F-4D97-AF65-F5344CB8AC3E}">
        <p14:creationId xmlns:p14="http://schemas.microsoft.com/office/powerpoint/2010/main" val="111450097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7C5AF3-AD43-4283-9444-6F7F21CF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대화를 문서로 묶기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7DBD4-7CBE-4D21-BBB2-19FA4891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계획서 초안을 요청하기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9299EC-0E41-42B5-AEEF-DBB7BE20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울릉고 리빙랩 4차시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2ED76-9EA7-402C-9761-40B65373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24BFC-CCCE-4481-BD62-16C24798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3810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57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C54B7-3363-4290-AC24-43BDD16F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지금까지 우리가 선택하고 수정한 내용을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콘텐츠 계획서 초안으로 정리해줘.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대상과 목적, 핵심 경험, 진행 방식, 필요한 구성,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담당할 일, 다음에 확인할 내용을 담아줘.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정하지 않은 부분은 “미정”으로 남겨줘.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새로 제안하는 내용은 본문과 구분해서 적어줘.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30690-6A2A-443C-9496-B15E66A6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91175"/>
            <a:ext cx="1066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팀이 결정한 내용이 문서의 중심이 됩니다.</a:t>
            </a:r>
          </a:p>
        </p:txBody>
      </p:sp>
    </p:spTree>
    <p:extLst>
      <p:ext uri="{BB962C8B-B14F-4D97-AF65-F5344CB8AC3E}">
        <p14:creationId xmlns:p14="http://schemas.microsoft.com/office/powerpoint/2010/main" val="80373324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B1AE8C-8074-4D2C-8140-DE5B1D59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계획서 검토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CDD5B2-A6FE-4359-81DE-2FDE7D5D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초안에서 확인할 부분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836ABF-FC28-427E-BB9D-4A9716F9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울릉고 리빙랩 4차시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E0EF9C-44E5-4728-9D04-9D0B0E67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CEA97-FB02-4DAA-80A3-E1A30AFA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70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A34F3D"/>
                </a:solidFill>
                <a:latin typeface="Pretendard"/>
                <a:ea typeface="Pretendard"/>
                <a:cs typeface="Pretendard"/>
              </a:rPr>
              <a:t>“관광객의 만족도가 높아지고, 곧바로 판매할 수 있다.”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A15F4-768C-4A9D-845A-D2A76383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4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4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4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4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4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4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4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4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4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4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검토 연습 문장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3E943-3A3C-485D-BDFF-99416F67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0025"/>
            <a:ext cx="1743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근거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ACBE89-FF41-4E02-8103-1869042A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010025"/>
            <a:ext cx="881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실제로 확인한 반응이나 자료가 있나요?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73A9A-6ADB-4277-ACA6-08295669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10668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FCCA7A-8215-48B4-AB60-8522601C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1743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내용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2957B1-DB1F-483B-8A89-56ACC167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772025"/>
            <a:ext cx="881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선택한 규칙과 구성 요소가 서로 맞나요?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A9F246-D863-4BEC-BC67-BAE68AF7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668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0632F2-6851-48EA-988D-10A6C7D3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34025"/>
            <a:ext cx="17430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실행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FB5E2-E60A-445C-B3F1-4D80A941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34025"/>
            <a:ext cx="8810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담당할 일과 다음 시험이 구체적인가요?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D963EC-1616-47F4-9D68-33140429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38850"/>
            <a:ext cx="10668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5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4350406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9EB718-CAAE-446F-A08D-9621FB6A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계획서 예시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56E65A-A9E3-43D3-A725-74250252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우리 팀의 계획서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5F161-56AD-4338-9EF9-1C147FA2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울릉고 리빙랩 4차시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D83FAA-1A3B-466C-BC06-8DA62691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2F3A9-DAC3-4CDD-AA0E-58A4F9FB0258}"/>
              </a:ext>
            </a:extLst>
          </p:cNvPr>
          <p:cNvGraphicFramePr/>
          <p:nvPr/>
        </p:nvGraphicFramePr>
        <p:xfrm>
          <a:off xmlns:a="http://schemas.openxmlformats.org/drawingml/2006/main" x="762000" y="1971675"/>
          <a:ext xmlns:a="http://schemas.openxmlformats.org/drawingml/2006/main" cx="106680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8477250"/>
              </a:tblGrid>
              <a:tr h="55108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7571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항목</a:t>
                      </a:r>
                    </a:p>
                  </a:txBody>
                  <a:tcPr marL="142875" marR="142875" marT="114300" marB="95250" anchor="t">
                    <a:lnL w="9525">
                      <a:solidFill>
                        <a:srgbClr val="C7CEC5"/>
                      </a:solidFill>
                      <a:prstDash val="solid"/>
                    </a:lnL>
                    <a:lnR w="9525">
                      <a:solidFill>
                        <a:srgbClr val="C7CEC5"/>
                      </a:solidFill>
                      <a:prstDash val="solid"/>
                    </a:lnR>
                    <a:lnT w="9525">
                      <a:solidFill>
                        <a:srgbClr val="C7CEC5"/>
                      </a:solidFill>
                      <a:prstDash val="solid"/>
                    </a:lnT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DF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7571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울릉마블 기획 예시</a:t>
                      </a:r>
                    </a:p>
                  </a:txBody>
                  <a:tcPr marL="142875" marR="142875" marT="114300" marB="95250" anchor="t">
                    <a:lnR w="9525">
                      <a:solidFill>
                        <a:srgbClr val="C7CEC5"/>
                      </a:solidFill>
                      <a:prstDash val="solid"/>
                    </a:lnR>
                    <a:lnT w="9525">
                      <a:solidFill>
                        <a:srgbClr val="C7CEC5"/>
                      </a:solidFill>
                      <a:prstDash val="solid"/>
                    </a:lnT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DFEBE5"/>
                    </a:solidFill>
                  </a:tcPr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대상과 목적</a:t>
                      </a:r>
                    </a:p>
                  </a:txBody>
                  <a:tcPr marL="142875" marR="142875" marT="114300" marB="95250" anchor="t">
                    <a:lnL w="9525">
                      <a:solidFill>
                        <a:srgbClr val="C7CEC5"/>
                      </a:solidFill>
                      <a:prstDash val="solid"/>
                    </a:lnL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울릉을 방문한 가족이 장소와 이야기를 나누는 경험</a:t>
                      </a:r>
                    </a:p>
                  </a:txBody>
                  <a:tcPr marL="142875" marR="142875" marT="114300" marB="95250" anchor="t"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한 번의 차례</a:t>
                      </a:r>
                    </a:p>
                  </a:txBody>
                  <a:tcPr marL="142875" marR="142875" marT="114300" marB="95250" anchor="t">
                    <a:lnL w="9525">
                      <a:solidFill>
                        <a:srgbClr val="C7CEC5"/>
                      </a:solidFill>
                      <a:prstDash val="solid"/>
                    </a:lnL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경로 선택, 이동, 장소 카드 읽기, 미션 수행</a:t>
                      </a:r>
                    </a:p>
                  </a:txBody>
                  <a:tcPr marL="142875" marR="142875" marT="114300" marB="95250" anchor="t"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게임 목표</a:t>
                      </a:r>
                    </a:p>
                  </a:txBody>
                  <a:tcPr marL="142875" marR="142875" marT="114300" marB="95250" anchor="t">
                    <a:lnL w="9525">
                      <a:solidFill>
                        <a:srgbClr val="C7CEC5"/>
                      </a:solidFill>
                      <a:prstDash val="solid"/>
                    </a:lnL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장소 미션 3개를 마치고 도착지에 먼저 도착</a:t>
                      </a:r>
                    </a:p>
                  </a:txBody>
                  <a:tcPr marL="142875" marR="142875" marT="114300" marB="95250" anchor="t"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필요한 구성</a:t>
                      </a:r>
                    </a:p>
                  </a:txBody>
                  <a:tcPr marL="142875" marR="142875" marT="114300" marB="95250" anchor="t">
                    <a:lnL w="9525">
                      <a:solidFill>
                        <a:srgbClr val="C7CEC5"/>
                      </a:solidFill>
                      <a:prstDash val="solid"/>
                    </a:lnL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경로가 있는 지도, 장소 카드, 말, 진행 안내</a:t>
                      </a:r>
                    </a:p>
                  </a:txBody>
                  <a:tcPr marL="142875" marR="142875" marT="114300" marB="95250" anchor="t"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다음 시험</a:t>
                      </a:r>
                    </a:p>
                  </a:txBody>
                  <a:tcPr marL="142875" marR="142875" marT="114300" marB="95250" anchor="t">
                    <a:lnL w="9525">
                      <a:solidFill>
                        <a:srgbClr val="C7CEC5"/>
                      </a:solidFill>
                      <a:prstDash val="solid"/>
                    </a:lnL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한 번의 차례를 따라 해보며 이해가 막히는 지점 찾기</a:t>
                      </a:r>
                    </a:p>
                  </a:txBody>
                  <a:tcPr marL="142875" marR="142875" marT="114300" marB="95250" anchor="t"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미정인 내용</a:t>
                      </a:r>
                    </a:p>
                  </a:txBody>
                  <a:tcPr marL="142875" marR="142875" marT="114300" marB="95250" anchor="t">
                    <a:lnL w="9525">
                      <a:solidFill>
                        <a:srgbClr val="C7CEC5"/>
                      </a:solidFill>
                      <a:prstDash val="solid"/>
                    </a:lnL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제작 수량, 예산, 판매 방식, 최종 디자인</a:t>
                      </a:r>
                    </a:p>
                  </a:txBody>
                  <a:tcPr marL="142875" marR="142875" marT="114300" marB="95250" anchor="t"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E83389-93A0-48C2-AE04-EE0980CB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98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수업용 기획 예시 · 규칙은 시험한 뒤 바꿀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87864284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B659BF-E0A1-4A55-84D3-8EF5B4AF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팀의 다음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9838D-5970-4FD8-8C99-9A355E57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누가 무엇을 이어갈까요?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A810B-931C-47AC-B293-BD98DA00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울릉고 리빙랩 4차시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9876E4-886D-473F-AC13-5EADA2E8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85DCD-8CB1-4769-82FF-6CD8CCF4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59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5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5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5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5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5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5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5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5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5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5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선출된 팀장  서우림 · 이다혜 · 김민중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479C0-16B3-441E-8937-121E50DE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각 팀에서 담당자와 다음에 공유할 내용을 정합니다.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0BD813-BA5C-479A-86F7-37E082AF9DDD}"/>
              </a:ext>
            </a:extLst>
          </p:cNvPr>
          <p:cNvGraphicFramePr/>
          <p:nvPr/>
        </p:nvGraphicFramePr>
        <p:xfrm>
          <a:off xmlns:a="http://schemas.openxmlformats.org/drawingml/2006/main" x="762000" y="3638550"/>
          <a:ext xmlns:a="http://schemas.openxmlformats.org/drawingml/2006/main" cx="106680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524000"/>
                <a:gridCol w="6286500"/>
              </a:tblGrid>
              <a:tr h="5476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7571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다음 작업</a:t>
                      </a:r>
                    </a:p>
                  </a:txBody>
                  <a:tcPr marL="142875" marR="142875" marT="114300" marB="95250" anchor="t">
                    <a:lnL w="9525">
                      <a:solidFill>
                        <a:srgbClr val="C7CEC5"/>
                      </a:solidFill>
                      <a:prstDash val="solid"/>
                    </a:lnL>
                    <a:lnR w="9525">
                      <a:solidFill>
                        <a:srgbClr val="C7CEC5"/>
                      </a:solidFill>
                      <a:prstDash val="solid"/>
                    </a:lnR>
                    <a:lnT w="9525">
                      <a:solidFill>
                        <a:srgbClr val="C7CEC5"/>
                      </a:solidFill>
                      <a:prstDash val="solid"/>
                    </a:lnT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DF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7571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</a:t>
                      </a:r>
                    </a:p>
                  </a:txBody>
                  <a:tcPr marL="142875" marR="142875" marT="114300" marB="95250" anchor="t">
                    <a:lnR w="9525">
                      <a:solidFill>
                        <a:srgbClr val="C7CEC5"/>
                      </a:solidFill>
                      <a:prstDash val="solid"/>
                    </a:lnR>
                    <a:lnT w="9525">
                      <a:solidFill>
                        <a:srgbClr val="C7CEC5"/>
                      </a:solidFill>
                      <a:prstDash val="solid"/>
                    </a:lnT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DF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7571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공유할 내용</a:t>
                      </a:r>
                    </a:p>
                  </a:txBody>
                  <a:tcPr marL="142875" marR="142875" marT="114300" marB="95250" anchor="t">
                    <a:lnR w="9525">
                      <a:solidFill>
                        <a:srgbClr val="C7CEC5"/>
                      </a:solidFill>
                      <a:prstDash val="solid"/>
                    </a:lnR>
                    <a:lnT w="9525">
                      <a:solidFill>
                        <a:srgbClr val="C7CEC5"/>
                      </a:solidFill>
                      <a:prstDash val="solid"/>
                    </a:lnT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DFEBE5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내용과 규칙 정리</a:t>
                      </a:r>
                    </a:p>
                  </a:txBody>
                  <a:tcPr marL="142875" marR="142875" marT="114300" marB="95250" anchor="t">
                    <a:lnL w="9525">
                      <a:solidFill>
                        <a:srgbClr val="C7CEC5"/>
                      </a:solidFill>
                      <a:prstDash val="solid"/>
                    </a:lnL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이름 적기</a:t>
                      </a:r>
                    </a:p>
                  </a:txBody>
                  <a:tcPr marL="142875" marR="142875" marT="114300" marB="95250" anchor="t"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설명되지 않은 장면과 선택의 결과</a:t>
                      </a:r>
                    </a:p>
                  </a:txBody>
                  <a:tcPr marL="142875" marR="142875" marT="114300" marB="95250" anchor="t"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지역 자료 확인</a:t>
                      </a:r>
                    </a:p>
                  </a:txBody>
                  <a:tcPr marL="142875" marR="142875" marT="114300" marB="95250" anchor="t">
                    <a:lnL w="9525">
                      <a:solidFill>
                        <a:srgbClr val="C7CEC5"/>
                      </a:solidFill>
                      <a:prstDash val="solid"/>
                    </a:lnL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이름 적기</a:t>
                      </a:r>
                    </a:p>
                  </a:txBody>
                  <a:tcPr marL="142875" marR="142875" marT="114300" marB="95250" anchor="t"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 설명에 쓸 출처와 사용 가능한 자료</a:t>
                      </a:r>
                    </a:p>
                  </a:txBody>
                  <a:tcPr marL="142875" marR="142875" marT="114300" marB="95250" anchor="t"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첫 시험 준비</a:t>
                      </a:r>
                    </a:p>
                  </a:txBody>
                  <a:tcPr marL="142875" marR="142875" marT="114300" marB="95250" anchor="t">
                    <a:lnL w="9525">
                      <a:solidFill>
                        <a:srgbClr val="C7CEC5"/>
                      </a:solidFill>
                      <a:prstDash val="solid"/>
                    </a:lnL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이름 적기</a:t>
                      </a:r>
                    </a:p>
                  </a:txBody>
                  <a:tcPr marL="142875" marR="142875" marT="114300" marB="95250" anchor="t"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3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먼저 확인할 장면과 관찰할 질문</a:t>
                      </a:r>
                    </a:p>
                  </a:txBody>
                  <a:tcPr marL="142875" marR="142875" marT="114300" marB="95250" anchor="t">
                    <a:lnR w="9525">
                      <a:solidFill>
                        <a:srgbClr val="C7CEC5"/>
                      </a:solidFill>
                      <a:prstDash val="solid"/>
                    </a:lnR>
                    <a:lnB w="9525">
                      <a:solidFill>
                        <a:srgbClr val="C7CEC5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025434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7A83C1-184E-4390-B2CB-03F67974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후속 구현과 체험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01862C-08AD-4AFF-AC54-F3286DE8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온라인에서 먼저 확인할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942C0-D867-403E-B2FE-D7D20066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울릉고 리빙랩 4차시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D7875-0F69-4500-A335-8CC0DA40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33B940-F655-4AAB-994E-409379D8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8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우리 계획서에서 한 장면을 골라봅시다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ED2DA3-07D6-4A5B-8822-E0AB346E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67075"/>
            <a:ext cx="17430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처음 보는 사람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C0B6A0-FC54-4040-8F19-8A9807AF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267075"/>
            <a:ext cx="881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무엇을 해야 하는지 알 수 있나요?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4AFB17-6C97-4CDF-84FF-592A2DCB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71925"/>
            <a:ext cx="10668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04852-8DD5-4BE6-B719-8AB7FFD4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17430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선택하는 순간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18427D-CA16-4488-8268-F13FCFDF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200525"/>
            <a:ext cx="881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선택지의 차이와 결과를 이해하나요?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C1DFD9-337B-48A0-A389-F5329152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10668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56B6DA-CEB3-4B9A-BAF5-D5B3F94F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33975"/>
            <a:ext cx="17430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진행한 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78C323-2184-47C2-B89B-0A2B2D91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133975"/>
            <a:ext cx="881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어디에서 멈추거나 설명을 다시 찾나요?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781371-69C4-4BA6-99AE-1F04DAA6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38825"/>
            <a:ext cx="10668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5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7911021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3843EB-580B-4F30-8CD9-6F74ECD0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기획 공유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D6883-40D0-4873-870F-B5B5EA18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다른 팀이 이해할 수 있나요?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4B5B7-8B68-4CCA-BBEE-1C24DE94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울릉고 리빙랩 4차시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38754-1426-416E-8DE8-0602E47F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30A513-4531-419C-9F28-F69C442F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0275"/>
            <a:ext cx="17430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방향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E6FC2-F737-4DED-AAC0-1A00E175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200275"/>
            <a:ext cx="8810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누구에게 어떤 경험을 주고 싶나요?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F384B2-D9C0-4FA4-BC65-BBB725B1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0668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23E66E-9CA2-4A89-9E4A-62EC4A18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0425"/>
            <a:ext cx="17430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진행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551F34-000D-474D-9BC8-6EF45BA2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400425"/>
            <a:ext cx="8810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이용자는 처음부터 끝까지 무엇을 하나요?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8CFE7E-419F-47CC-A160-942B110A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10668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6AD6E9-7599-4B60-A2E9-183683E2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00575"/>
            <a:ext cx="17430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다음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A6E6E9-641A-4F41-81A1-EE936905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600575"/>
            <a:ext cx="8810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먼저 확인할 부분과 필요한 도움은 무엇인가요?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F65B2D-AB8C-4516-AA0E-741515C7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00675"/>
            <a:ext cx="10668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5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3125172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C1258F-D1CC-463E-A6E6-D41592C7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피드백을 AI 요청으로 바꾸기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878A7D-313E-4DC8-B8FA-DE21FBF8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받은 의견으로 한 번 더 수정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ADCA1-BE45-4595-918F-4D6D2B07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울릉고 리빙랩 4차시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D0BD3-D867-4449-B938-365DFA86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5386BA-6D0F-4746-B20D-98768594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50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95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95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95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95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95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95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95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95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95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950" b="1">
                <a:solidFill>
                  <a:srgbClr val="A34F3D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A34F3D"/>
                </a:solidFill>
                <a:latin typeface="Pretendard"/>
                <a:ea typeface="Pretendard"/>
                <a:cs typeface="Pretendard"/>
              </a:rPr>
              <a:t>받은 의견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C94594-9726-4150-8550-D02A5124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66925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4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4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4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4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4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4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4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4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4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475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475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“탐색 경로를 왜 고르는지 잘 모르겠어요.”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71395-33F9-4C8E-B981-6092F769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668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07A45-C3BE-4F87-8BC2-3394A1C7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9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9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9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9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9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9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9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9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9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950" b="1">
                <a:solidFill>
                  <a:srgbClr val="147571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47571"/>
                </a:solidFill>
                <a:latin typeface="Pretendard"/>
                <a:ea typeface="Pretendard"/>
                <a:cs typeface="Pretendard"/>
              </a:rPr>
              <a:t>다시 요청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5DB12F-9ED0-4A19-8E7F-9984FC3E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86150"/>
            <a:ext cx="8620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여행 경주의 목표와 기본 진행은 유지해줘.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탐색 경로에서 얻는 정보가 다음 선택에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어떤 도움을 주는지 드러나도록 수정하고,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173236"/>
                </a:solidFill>
                <a:latin typeface="Pretendard"/>
                <a:ea typeface="Pretendard"/>
                <a:cs typeface="Pretendard"/>
              </a:rPr>
              <a:t>바뀐 부분을 따로 정리해줘.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4E5EF0-BEA4-4175-BD1A-4A0CB717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98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56C66"/>
                </a:solidFill>
                <a:latin typeface="Pretendard"/>
                <a:ea typeface="Pretendard"/>
                <a:cs typeface="Pretendard"/>
              </a:rPr>
              <a:t>피드백과 수정 요청의 예시</a:t>
            </a:r>
          </a:p>
        </p:txBody>
      </p:sp>
    </p:spTree>
    <p:extLst>
      <p:ext uri="{BB962C8B-B14F-4D97-AF65-F5344CB8AC3E}">
        <p14:creationId xmlns:p14="http://schemas.microsoft.com/office/powerpoint/2010/main" val="163184538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1732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CC598-04B6-4561-9EB7-B8D8125E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AFD3C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1">
                <a:solidFill>
                  <a:srgbClr val="AFD3C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1">
                <a:solidFill>
                  <a:srgbClr val="AFD3C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1">
                <a:solidFill>
                  <a:srgbClr val="AFD3C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1">
                <a:solidFill>
                  <a:srgbClr val="AFD3C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1">
                <a:solidFill>
                  <a:srgbClr val="AFD3C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1">
                <a:solidFill>
                  <a:srgbClr val="AFD3C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1">
                <a:solidFill>
                  <a:srgbClr val="AFD3C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1">
                <a:solidFill>
                  <a:srgbClr val="AFD3C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1">
                <a:solidFill>
                  <a:srgbClr val="AFD3C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AFD3C8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AFD3C8"/>
                </a:solidFill>
                <a:latin typeface="Pretendard"/>
                <a:ea typeface="Pretendard"/>
                <a:cs typeface="Pretendard"/>
              </a:rPr>
              <a:t>수업 마무리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5ADEB-08DC-4C5D-B9A8-76E147EE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4F1E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F4F1E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F4F1E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F4F1E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F4F1E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F4F1E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F4F1E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F4F1E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F4F1E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F4F1E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450" b="1">
                <a:solidFill>
                  <a:srgbClr val="F4F1E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F4F1E8"/>
                </a:solidFill>
                <a:latin typeface="Pretendard"/>
                <a:ea typeface="Pretendard"/>
                <a:cs typeface="Pretendard"/>
              </a:rPr>
              <a:t>오늘 정한 것, 다음에 확인할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4B65A-2435-4986-B0FF-820C38E9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B7C8B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050" b="0">
                <a:solidFill>
                  <a:srgbClr val="B7C8B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050" b="0">
                <a:solidFill>
                  <a:srgbClr val="B7C8B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050" b="0">
                <a:solidFill>
                  <a:srgbClr val="B7C8B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050" b="0">
                <a:solidFill>
                  <a:srgbClr val="B7C8B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050" b="0">
                <a:solidFill>
                  <a:srgbClr val="B7C8B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050" b="0">
                <a:solidFill>
                  <a:srgbClr val="B7C8B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050" b="0">
                <a:solidFill>
                  <a:srgbClr val="B7C8B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050" b="0">
                <a:solidFill>
                  <a:srgbClr val="B7C8B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050" b="0">
                <a:solidFill>
                  <a:srgbClr val="B7C8B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50" b="0">
                <a:solidFill>
                  <a:srgbClr val="B7C8BF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B7C8BF"/>
                </a:solidFill>
                <a:latin typeface="Pretendard"/>
                <a:ea typeface="Pretendard"/>
                <a:cs typeface="Pretendard"/>
              </a:rPr>
              <a:t>울릉고 리빙랩 4차시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598A6E-F6AE-4FB1-8634-DA08058C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7C8B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125" b="0">
                <a:solidFill>
                  <a:srgbClr val="B7C8B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125" b="0">
                <a:solidFill>
                  <a:srgbClr val="B7C8B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125" b="0">
                <a:solidFill>
                  <a:srgbClr val="B7C8B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125" b="0">
                <a:solidFill>
                  <a:srgbClr val="B7C8B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125" b="0">
                <a:solidFill>
                  <a:srgbClr val="B7C8B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125" b="0">
                <a:solidFill>
                  <a:srgbClr val="B7C8B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125" b="0">
                <a:solidFill>
                  <a:srgbClr val="B7C8B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125" b="0">
                <a:solidFill>
                  <a:srgbClr val="B7C8B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125" b="0">
                <a:solidFill>
                  <a:srgbClr val="B7C8B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0">
                <a:solidFill>
                  <a:srgbClr val="B7C8BF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B7C8BF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2E9C9-78EB-41D7-B11D-4D3CF381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4F1E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4F1E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4F1E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4F1E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4F1E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4F1E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4F1E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4F1E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4F1E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000" b="1">
                <a:solidFill>
                  <a:srgbClr val="F4F1E8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4F1E8"/>
                </a:solidFill>
                <a:latin typeface="Pretendard"/>
                <a:ea typeface="Pretendard"/>
                <a:cs typeface="Pretendard"/>
              </a:rPr>
              <a:t>우리 팀의 계획서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785567-F06B-4A0D-A948-B27074D2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10668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D9E3DC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400" b="0">
                <a:solidFill>
                  <a:srgbClr val="D9E3DC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400" b="0">
                <a:solidFill>
                  <a:srgbClr val="D9E3DC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400" b="0">
                <a:solidFill>
                  <a:srgbClr val="D9E3DC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400" b="0">
                <a:solidFill>
                  <a:srgbClr val="D9E3DC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400" b="0">
                <a:solidFill>
                  <a:srgbClr val="D9E3DC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400" b="0">
                <a:solidFill>
                  <a:srgbClr val="D9E3DC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400" b="0">
                <a:solidFill>
                  <a:srgbClr val="D9E3DC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400" b="0">
                <a:solidFill>
                  <a:srgbClr val="D9E3DC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400" b="0">
                <a:solidFill>
                  <a:srgbClr val="D9E3D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400" b="0">
                <a:solidFill>
                  <a:srgbClr val="D9E3DC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D9E3DC"/>
                </a:solidFill>
                <a:latin typeface="Pretendard"/>
                <a:ea typeface="Pretendard"/>
                <a:cs typeface="Pretendard"/>
              </a:rPr>
              <a:t>선택한 아이디어와 선택한 이유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400" b="0">
                <a:solidFill>
                  <a:srgbClr val="D9E3DC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D9E3DC"/>
                </a:solidFill>
                <a:latin typeface="Pretendard"/>
                <a:ea typeface="Pretendard"/>
                <a:cs typeface="Pretendard"/>
              </a:rPr>
              <a:t>수정한 진행 방식과 필요한 구성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400" b="0">
                <a:solidFill>
                  <a:srgbClr val="D9E3DC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D9E3DC"/>
                </a:solidFill>
                <a:latin typeface="Pretendard"/>
                <a:ea typeface="Pretendard"/>
                <a:cs typeface="Pretendard"/>
              </a:rPr>
              <a:t>다음에 확인할 질문과 담당할 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A341C-382C-4C50-9EC5-719DA614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24475"/>
            <a:ext cx="10668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706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00E71-4B02-4276-9624-7F4B1932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292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B7D1C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B7D1C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B7D1C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B7D1C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B7D1C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B7D1C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B7D1C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B7D1C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B7D1C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B7D1C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B7D1C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B7D1C6"/>
                </a:solidFill>
                <a:latin typeface="Pretendard"/>
                <a:ea typeface="Pretendard"/>
                <a:cs typeface="Pretendard"/>
              </a:rPr>
              <a:t>다음에는 이 계획을 화면으로 옮기고,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B7D1C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B7D1C6"/>
                </a:solidFill>
                <a:latin typeface="Pretendard"/>
                <a:ea typeface="Pretendard"/>
                <a:cs typeface="Pretendard"/>
              </a:rPr>
              <a:t>직접 체험하며 고칠 부분을 찾아갑니다.</a:t>
            </a:r>
          </a:p>
        </p:txBody>
      </p:sp>
    </p:spTree>
    <p:extLst>
      <p:ext uri="{BB962C8B-B14F-4D97-AF65-F5344CB8AC3E}">
        <p14:creationId xmlns:p14="http://schemas.microsoft.com/office/powerpoint/2010/main" val="18163864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2026-10-21T16:08:05.0580000Z</dcterms:created>
  <dcterms:modified xsi:type="dcterms:W3CDTF">2026-10-21T16:08:05.0580000Z</dcterms:modified>
</coreProperties>
</file>